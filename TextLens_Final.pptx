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2" r:id="rId6"/>
    <p:sldId id="261" r:id="rId7"/>
    <p:sldId id="263" r:id="rId8"/>
    <p:sldId id="264" r:id="rId9"/>
    <p:sldId id="271" r:id="rId10"/>
    <p:sldId id="273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775"/>
    <a:srgbClr val="FE8573"/>
    <a:srgbClr val="F8F8F8"/>
    <a:srgbClr val="F0F0F0"/>
    <a:srgbClr val="E8E8E8"/>
    <a:srgbClr val="E2E2E2"/>
    <a:srgbClr val="DADADA"/>
    <a:srgbClr val="D4D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(ms)</c:v>
                </c:pt>
              </c:strCache>
            </c:strRef>
          </c:tx>
          <c:spPr>
            <a:solidFill>
              <a:srgbClr val="0071E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2A0-4EA7-BE03-B82370D8630A}"/>
              </c:ext>
            </c:extLst>
          </c:dPt>
          <c:dPt>
            <c:idx val="1"/>
            <c:invertIfNegative val="0"/>
            <c:bubble3D val="0"/>
            <c:spPr>
              <a:solidFill>
                <a:srgbClr val="32AD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A0-4EA7-BE03-B82370D8630A}"/>
              </c:ext>
            </c:extLst>
          </c:dPt>
          <c:dPt>
            <c:idx val="2"/>
            <c:invertIfNegative val="0"/>
            <c:bubble3D val="0"/>
            <c:spPr>
              <a:solidFill>
                <a:srgbClr val="34C7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2A0-4EA7-BE03-B82370D8630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D1D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OCR Processing</c:v>
                </c:pt>
                <c:pt idx="1">
                  <c:v>Translation</c:v>
                </c:pt>
                <c:pt idx="2">
                  <c:v>Rendering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</c:v>
                </c:pt>
                <c:pt idx="1">
                  <c:v>310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2A0-4EA7-BE03-B82370D863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1D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D1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521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754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dirty="0">
                <a:solidFill>
                  <a:srgbClr val="0071E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NANYANG TECHNOLOGICAL UNIVERSITY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TextLens</a:t>
            </a:r>
            <a:endParaRPr lang="en-US" sz="6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Translation App Integrated with Scene Text Editing</a:t>
            </a:r>
            <a:endParaRPr lang="en-US" sz="19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0" y="2578608"/>
            <a:ext cx="1828800" cy="36576"/>
          </a:xfrm>
          <a:prstGeom prst="roundRect">
            <a:avLst>
              <a:gd name="adj" fmla="val 1250000"/>
            </a:avLst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7249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Goh Yew Kiang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Bachelor of Computing in Computer Science  ·  College of Computing and Data Science  ·  2026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84220" y="3703320"/>
            <a:ext cx="2575560" cy="384048"/>
          </a:xfrm>
          <a:prstGeom prst="roundRect">
            <a:avLst>
              <a:gd name="adj" fmla="val 119048"/>
            </a:avLst>
          </a:prstGeom>
          <a:solidFill>
            <a:srgbClr val="0071E3">
              <a:alpha val="20000"/>
            </a:srgbClr>
          </a:solidFill>
          <a:ln w="12700">
            <a:solidFill>
              <a:srgbClr val="0071E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37560" y="3703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1E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FINAL YEAR PROJECT  ·  CCDS25-0235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Agenda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853779"/>
            <a:ext cx="8138160" cy="1828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85216" y="1225296"/>
            <a:ext cx="310896" cy="310896"/>
          </a:xfrm>
          <a:prstGeom prst="ellipse">
            <a:avLst/>
          </a:prstGeom>
          <a:solidFill>
            <a:srgbClr val="0071E3">
              <a:alpha val="18000"/>
            </a:srgbClr>
          </a:solidFill>
          <a:ln w="12700">
            <a:solidFill>
              <a:srgbClr val="0071E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85216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1E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01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4128" y="1257469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Motivation &amp; Background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4128" y="14264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83480" y="1115568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11496" y="1225296"/>
            <a:ext cx="310896" cy="310896"/>
          </a:xfrm>
          <a:prstGeom prst="ellipse">
            <a:avLst/>
          </a:prstGeom>
          <a:solidFill>
            <a:srgbClr val="32ADE6">
              <a:alpha val="18000"/>
            </a:srgbClr>
          </a:solidFill>
          <a:ln w="12700">
            <a:solidFill>
              <a:srgbClr val="32ADE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11496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ADE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02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50408" y="1257469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Project Objectives &amp; Scope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50408" y="14264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5216" y="1847088"/>
            <a:ext cx="310896" cy="310896"/>
          </a:xfrm>
          <a:prstGeom prst="ellipse">
            <a:avLst/>
          </a:prstGeom>
          <a:solidFill>
            <a:srgbClr val="0071E3">
              <a:alpha val="18000"/>
            </a:srgbClr>
          </a:solidFill>
          <a:ln w="12700">
            <a:solidFill>
              <a:srgbClr val="0071E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85216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1E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03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24128" y="1879261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Architecture &amp; Pipeline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24128" y="204825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983480" y="1737360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111496" y="1847088"/>
            <a:ext cx="310896" cy="310896"/>
          </a:xfrm>
          <a:prstGeom prst="ellipse">
            <a:avLst/>
          </a:prstGeom>
          <a:solidFill>
            <a:srgbClr val="BF5AF2">
              <a:alpha val="18000"/>
            </a:srgbClr>
          </a:solidFill>
          <a:ln w="12700">
            <a:solidFill>
              <a:srgbClr val="BF5AF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11496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5AF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04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50408" y="1879261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Implementation &amp; UI Demo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50408" y="204825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2359152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85216" y="2468880"/>
            <a:ext cx="310896" cy="310896"/>
          </a:xfrm>
          <a:prstGeom prst="ellipse">
            <a:avLst/>
          </a:prstGeom>
          <a:solidFill>
            <a:srgbClr val="32ADE6">
              <a:alpha val="18000"/>
            </a:srgbClr>
          </a:solidFill>
          <a:ln w="12700">
            <a:solidFill>
              <a:srgbClr val="32ADE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85216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ADE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05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24128" y="2501053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Testing &amp; Evaluation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24128" y="267004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983480" y="2359152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111496" y="2468880"/>
            <a:ext cx="310896" cy="310896"/>
          </a:xfrm>
          <a:prstGeom prst="ellipse">
            <a:avLst/>
          </a:prstGeom>
          <a:solidFill>
            <a:srgbClr val="0071E3">
              <a:alpha val="18000"/>
            </a:srgbClr>
          </a:solidFill>
          <a:ln w="12700">
            <a:solidFill>
              <a:srgbClr val="0071E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111496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1E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06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50408" y="2501053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Results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550408" y="267004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200" y="2980944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85216" y="3090672"/>
            <a:ext cx="310896" cy="310896"/>
          </a:xfrm>
          <a:prstGeom prst="ellipse">
            <a:avLst/>
          </a:prstGeom>
          <a:solidFill>
            <a:srgbClr val="34C759">
              <a:alpha val="18000"/>
            </a:srgbClr>
          </a:solidFill>
          <a:ln w="12700">
            <a:solidFill>
              <a:srgbClr val="34C7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85216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C75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07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24128" y="3122845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Conclusion &amp; Future Work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24128" y="329184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983480" y="2980944"/>
            <a:ext cx="397764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111496" y="3090672"/>
            <a:ext cx="310896" cy="310896"/>
          </a:xfrm>
          <a:prstGeom prst="ellipse">
            <a:avLst/>
          </a:prstGeom>
          <a:solidFill>
            <a:srgbClr val="34C759">
              <a:alpha val="18000"/>
            </a:srgbClr>
          </a:solidFill>
          <a:ln w="12700">
            <a:solidFill>
              <a:srgbClr val="34C7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111496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C75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08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550408" y="3122845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 &amp; 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550408" y="329184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57200" y="3602736"/>
            <a:ext cx="3977640" cy="530352"/>
          </a:xfrm>
          <a:prstGeom prst="roundRect">
            <a:avLst>
              <a:gd name="adj" fmla="val 20690"/>
            </a:avLst>
          </a:prstGeom>
          <a:noFill/>
          <a:ln w="9525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46" name="Shape 44"/>
          <p:cNvSpPr/>
          <p:nvPr/>
        </p:nvSpPr>
        <p:spPr>
          <a:xfrm>
            <a:off x="585216" y="3712464"/>
            <a:ext cx="310896" cy="310896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85216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24128" y="3744637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024128" y="39136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983480" y="3602736"/>
            <a:ext cx="3977640" cy="530352"/>
          </a:xfrm>
          <a:prstGeom prst="roundRect">
            <a:avLst>
              <a:gd name="adj" fmla="val 20690"/>
            </a:avLst>
          </a:prstGeom>
          <a:noFill/>
          <a:ln w="9525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1" name="Shape 49"/>
          <p:cNvSpPr/>
          <p:nvPr/>
        </p:nvSpPr>
        <p:spPr>
          <a:xfrm>
            <a:off x="5111496" y="3712464"/>
            <a:ext cx="310896" cy="310896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111496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550408" y="3744637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Motivation &amp; Background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Why build a real-time on-device scene translation app?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261872"/>
            <a:ext cx="914400" cy="256032"/>
          </a:xfrm>
          <a:prstGeom prst="roundRect">
            <a:avLst>
              <a:gd name="adj" fmla="val 178571"/>
            </a:avLst>
          </a:prstGeom>
          <a:solidFill>
            <a:srgbClr val="FF375F">
              <a:alpha val="18000"/>
            </a:srgbClr>
          </a:solidFill>
          <a:ln w="12700">
            <a:solidFill>
              <a:srgbClr val="FF375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37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PROBLEM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Problem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95681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— Apps like Google Translate &amp; Apple Translate offer AR translation but depend on cloud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" y="259689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— Proprietary internals — hard to reproduce or study offline behaviour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" y="323697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— Privacy risk: camera frames sent to remote servers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8368" y="3877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— No internet = no translation in many real-world settings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56048" y="1261872"/>
            <a:ext cx="1005840" cy="256032"/>
          </a:xfrm>
          <a:prstGeom prst="roundRect">
            <a:avLst>
              <a:gd name="adj" fmla="val 178571"/>
            </a:avLst>
          </a:prstGeom>
          <a:solidFill>
            <a:srgbClr val="34C759">
              <a:alpha val="18000"/>
            </a:srgbClr>
          </a:solidFill>
          <a:ln w="12700">
            <a:solidFill>
              <a:srgbClr val="34C7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56048" y="1261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C75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SOLUTION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56048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TextLens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56048" y="19568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✓  Fully on-device pipeline — OCR + translation without any internet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56048" y="259689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✓  Renders translated text back into the scene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56048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✓  Motion-gated processing: OCR only on stable frames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Project Objectives &amp; Scope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Five core goals driving the design of TextLens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261872"/>
            <a:ext cx="1645920" cy="274320"/>
          </a:xfrm>
          <a:prstGeom prst="roundRect">
            <a:avLst>
              <a:gd name="adj" fmla="val 166667"/>
            </a:avLst>
          </a:prstGeom>
          <a:solidFill>
            <a:srgbClr val="0071E3">
              <a:alpha val="18000"/>
            </a:srgbClr>
          </a:solidFill>
          <a:ln w="12700">
            <a:solidFill>
              <a:srgbClr val="0071E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71E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Real-Time OCR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68880" y="1097280"/>
            <a:ext cx="6080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Recognize scene text from a live camera feed using on-device ML Kit OCR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" y="1975104"/>
            <a:ext cx="1645920" cy="274320"/>
          </a:xfrm>
          <a:prstGeom prst="roundRect">
            <a:avLst>
              <a:gd name="adj" fmla="val 166667"/>
            </a:avLst>
          </a:prstGeom>
          <a:solidFill>
            <a:srgbClr val="32ADE6">
              <a:alpha val="18000"/>
            </a:srgbClr>
          </a:solidFill>
          <a:ln w="12700">
            <a:solidFill>
              <a:srgbClr val="32ADE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" y="1975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2ADE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Offline Translation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68880" y="1810512"/>
            <a:ext cx="6080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Translate detected text without internet via on-device neural MT models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8368" y="2688336"/>
            <a:ext cx="1645920" cy="274320"/>
          </a:xfrm>
          <a:prstGeom prst="roundRect">
            <a:avLst>
              <a:gd name="adj" fmla="val 166667"/>
            </a:avLst>
          </a:prstGeom>
          <a:solidFill>
            <a:srgbClr val="34C759">
              <a:alpha val="18000"/>
            </a:srgbClr>
          </a:solidFill>
          <a:ln w="12700">
            <a:solidFill>
              <a:srgbClr val="34C7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C75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Scene Text Editing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468880" y="2523744"/>
            <a:ext cx="6080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Replace original text in the scene with translated content via inpainting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3401568"/>
            <a:ext cx="1645920" cy="274320"/>
          </a:xfrm>
          <a:prstGeom prst="roundRect">
            <a:avLst>
              <a:gd name="adj" fmla="val 166667"/>
            </a:avLst>
          </a:prstGeom>
          <a:solidFill>
            <a:srgbClr val="FF9F0A">
              <a:alpha val="18000"/>
            </a:srgbClr>
          </a:solidFill>
          <a:ln w="12700">
            <a:solidFill>
              <a:srgbClr val="FF9F0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8368" y="3401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9F0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Motion-Stable Framing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468880" y="3236976"/>
            <a:ext cx="6080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OpenCV frame differencing to trigger OCR only on stable frames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950208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8368" y="4114800"/>
            <a:ext cx="1645920" cy="274320"/>
          </a:xfrm>
          <a:prstGeom prst="roundRect">
            <a:avLst>
              <a:gd name="adj" fmla="val 166667"/>
            </a:avLst>
          </a:prstGeom>
          <a:solidFill>
            <a:srgbClr val="BF5AF2">
              <a:alpha val="18000"/>
            </a:srgbClr>
          </a:solidFill>
          <a:ln w="12700">
            <a:solidFill>
              <a:srgbClr val="BF5AF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368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5AF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Multi-Language Support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468880" y="3950208"/>
            <a:ext cx="6080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Auto-route Latin, Chinese, Japanese and Korean to the correct OCR &amp; NMT model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X Journey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onnLine"/>
          <p:cNvSpPr/>
          <p:nvPr/>
        </p:nvSpPr>
        <p:spPr>
          <a:xfrm>
            <a:off x="1187640" y="1512810"/>
            <a:ext cx="6632657" cy="45719"/>
          </a:xfrm>
          <a:prstGeom prst="rect">
            <a:avLst/>
          </a:prstGeom>
          <a:solidFill>
            <a:srgbClr val="D1D1D6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</a:t>
            </a:r>
            <a:r>
              <a:rPr lang="en-US" sz="2600" b="1" dirty="0" err="1">
                <a:solidFill>
                  <a:srgbClr val="1D1D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TextLens</a:t>
            </a:r>
            <a:r>
              <a:rPr lang="en-US" sz="2600" b="1" dirty="0">
                <a:solidFill>
                  <a:srgbClr val="1D1D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Works</a:t>
            </a:r>
          </a:p>
        </p:txBody>
      </p:sp>
      <p:sp>
        <p:nvSpPr>
          <p:cNvPr id="3" name="Sub"/>
          <p:cNvSpPr/>
          <p:nvPr/>
        </p:nvSpPr>
        <p:spPr>
          <a:xfrm>
            <a:off x="502920" y="69494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Five steps from camera to translated scene fully on-device</a:t>
            </a:r>
          </a:p>
        </p:txBody>
      </p:sp>
      <p:sp>
        <p:nvSpPr>
          <p:cNvPr id="4" name="Div"/>
          <p:cNvSpPr/>
          <p:nvPr/>
        </p:nvSpPr>
        <p:spPr>
          <a:xfrm>
            <a:off x="502920" y="950000"/>
            <a:ext cx="8138160" cy="1828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1"/>
          <p:cNvSpPr/>
          <p:nvPr/>
        </p:nvSpPr>
        <p:spPr>
          <a:xfrm>
            <a:off x="960120" y="1286411"/>
            <a:ext cx="457200" cy="457200"/>
          </a:xfrm>
          <a:prstGeom prst="ellipse">
            <a:avLst/>
          </a:prstGeom>
          <a:solidFill>
            <a:srgbClr val="0071E3"/>
          </a:solidFill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" name="Card1"/>
          <p:cNvSpPr/>
          <p:nvPr/>
        </p:nvSpPr>
        <p:spPr>
          <a:xfrm>
            <a:off x="502920" y="2151223"/>
            <a:ext cx="1371600" cy="220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Label1"/>
          <p:cNvSpPr/>
          <p:nvPr/>
        </p:nvSpPr>
        <p:spPr>
          <a:xfrm>
            <a:off x="502920" y="3691223"/>
            <a:ext cx="1371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1100" b="1" dirty="0">
                <a:solidFill>
                  <a:srgbClr val="1D1D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Launch App</a:t>
            </a:r>
          </a:p>
          <a:p>
            <a:pPr algn="ctr">
              <a:buNone/>
            </a:pPr>
            <a:r>
              <a:rPr lang="en-US" sz="900" dirty="0">
                <a:solidFill>
                  <a:srgbClr val="6E6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target language</a:t>
            </a:r>
          </a:p>
        </p:txBody>
      </p:sp>
      <p:sp>
        <p:nvSpPr>
          <p:cNvPr id="20" name="Arr1"/>
          <p:cNvSpPr/>
          <p:nvPr/>
        </p:nvSpPr>
        <p:spPr>
          <a:xfrm>
            <a:off x="1920000" y="3131223"/>
            <a:ext cx="2286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7C7CC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2"/>
          <p:cNvSpPr/>
          <p:nvPr/>
        </p:nvSpPr>
        <p:spPr>
          <a:xfrm>
            <a:off x="2651760" y="1286411"/>
            <a:ext cx="457200" cy="457200"/>
          </a:xfrm>
          <a:prstGeom prst="ellipse">
            <a:avLst/>
          </a:prstGeom>
          <a:solidFill>
            <a:srgbClr val="32ADE6"/>
          </a:solidFill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1" name="Card2"/>
          <p:cNvSpPr/>
          <p:nvPr/>
        </p:nvSpPr>
        <p:spPr>
          <a:xfrm>
            <a:off x="2194560" y="2151223"/>
            <a:ext cx="1371600" cy="220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Label2"/>
          <p:cNvSpPr/>
          <p:nvPr/>
        </p:nvSpPr>
        <p:spPr>
          <a:xfrm>
            <a:off x="2194560" y="3691223"/>
            <a:ext cx="1371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1100" b="1" dirty="0">
                <a:solidFill>
                  <a:srgbClr val="1D1D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 Camera</a:t>
            </a:r>
          </a:p>
          <a:p>
            <a:pPr algn="ctr">
              <a:buNone/>
            </a:pPr>
            <a:r>
              <a:rPr lang="en-US" sz="900" dirty="0">
                <a:solidFill>
                  <a:srgbClr val="6E6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fps live preview</a:t>
            </a:r>
          </a:p>
        </p:txBody>
      </p:sp>
      <p:sp>
        <p:nvSpPr>
          <p:cNvPr id="40" name="Arr2"/>
          <p:cNvSpPr/>
          <p:nvPr/>
        </p:nvSpPr>
        <p:spPr>
          <a:xfrm>
            <a:off x="3612000" y="3131223"/>
            <a:ext cx="2286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7C7CC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C3"/>
          <p:cNvSpPr/>
          <p:nvPr/>
        </p:nvSpPr>
        <p:spPr>
          <a:xfrm>
            <a:off x="4343400" y="1286411"/>
            <a:ext cx="457200" cy="457200"/>
          </a:xfrm>
          <a:prstGeom prst="ellipse">
            <a:avLst/>
          </a:prstGeom>
          <a:solidFill>
            <a:srgbClr val="BF5AF2"/>
          </a:solidFill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1" name="Card3"/>
          <p:cNvSpPr/>
          <p:nvPr/>
        </p:nvSpPr>
        <p:spPr>
          <a:xfrm>
            <a:off x="3886200" y="2151223"/>
            <a:ext cx="1371600" cy="220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Label3"/>
          <p:cNvSpPr/>
          <p:nvPr/>
        </p:nvSpPr>
        <p:spPr>
          <a:xfrm>
            <a:off x="3886200" y="3691223"/>
            <a:ext cx="1371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1100" b="1" dirty="0">
                <a:solidFill>
                  <a:srgbClr val="1D1D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OCR Triggered</a:t>
            </a:r>
          </a:p>
          <a:p>
            <a:pPr algn="ctr">
              <a:buNone/>
            </a:pPr>
            <a:r>
              <a:rPr lang="en-US" sz="900" dirty="0">
                <a:solidFill>
                  <a:srgbClr val="6E6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stable frames only</a:t>
            </a:r>
          </a:p>
        </p:txBody>
      </p:sp>
      <p:sp>
        <p:nvSpPr>
          <p:cNvPr id="60" name="Arr3"/>
          <p:cNvSpPr/>
          <p:nvPr/>
        </p:nvSpPr>
        <p:spPr>
          <a:xfrm>
            <a:off x="5303640" y="3131223"/>
            <a:ext cx="2286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7C7CC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C4"/>
          <p:cNvSpPr/>
          <p:nvPr/>
        </p:nvSpPr>
        <p:spPr>
          <a:xfrm>
            <a:off x="6035040" y="1286411"/>
            <a:ext cx="457200" cy="457200"/>
          </a:xfrm>
          <a:prstGeom prst="ellipse">
            <a:avLst/>
          </a:prstGeom>
          <a:solidFill>
            <a:srgbClr val="FF6B00"/>
          </a:solidFill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1" name="Card4"/>
          <p:cNvSpPr/>
          <p:nvPr/>
        </p:nvSpPr>
        <p:spPr>
          <a:xfrm>
            <a:off x="5577840" y="2151223"/>
            <a:ext cx="1371600" cy="220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Label4"/>
          <p:cNvSpPr/>
          <p:nvPr/>
        </p:nvSpPr>
        <p:spPr>
          <a:xfrm>
            <a:off x="5577840" y="3691223"/>
            <a:ext cx="1371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1100" b="1" dirty="0">
                <a:solidFill>
                  <a:srgbClr val="1D1D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+ Inpaint</a:t>
            </a:r>
          </a:p>
          <a:p>
            <a:pPr algn="ctr">
              <a:buNone/>
            </a:pPr>
            <a:r>
              <a:rPr lang="en-US" sz="900" dirty="0">
                <a:solidFill>
                  <a:srgbClr val="6E6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NMT + OpenCV</a:t>
            </a:r>
          </a:p>
        </p:txBody>
      </p:sp>
      <p:sp>
        <p:nvSpPr>
          <p:cNvPr id="80" name="Arr4"/>
          <p:cNvSpPr/>
          <p:nvPr/>
        </p:nvSpPr>
        <p:spPr>
          <a:xfrm>
            <a:off x="6995280" y="3131223"/>
            <a:ext cx="2286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7C7CC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C5"/>
          <p:cNvSpPr/>
          <p:nvPr/>
        </p:nvSpPr>
        <p:spPr>
          <a:xfrm>
            <a:off x="7726680" y="1286411"/>
            <a:ext cx="457200" cy="457200"/>
          </a:xfrm>
          <a:prstGeom prst="ellipse">
            <a:avLst/>
          </a:prstGeom>
          <a:solidFill>
            <a:srgbClr val="34C759"/>
          </a:solidFill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1" name="Card5"/>
          <p:cNvSpPr/>
          <p:nvPr/>
        </p:nvSpPr>
        <p:spPr>
          <a:xfrm>
            <a:off x="7269480" y="2151223"/>
            <a:ext cx="1371600" cy="220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chemeClr val="bg2">
                <a:lumMod val="90000"/>
              </a:schemeClr>
            </a:solidFill>
            <a:prstDash val="solid"/>
          </a:ln>
          <a:effectLst>
            <a:outerShdw blurRad="101600" dist="25400" dir="8100000" algn="bl" rotWithShape="0">
              <a:schemeClr val="tx1">
                <a:alpha val="6000"/>
              </a:scheme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Label5"/>
          <p:cNvSpPr/>
          <p:nvPr/>
        </p:nvSpPr>
        <p:spPr>
          <a:xfrm>
            <a:off x="7269480" y="3691223"/>
            <a:ext cx="1371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1100" b="1" dirty="0">
                <a:solidFill>
                  <a:srgbClr val="1D1D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Overlay Live</a:t>
            </a:r>
          </a:p>
          <a:p>
            <a:pPr algn="ctr">
              <a:buNone/>
            </a:pPr>
            <a:r>
              <a:rPr lang="en-US" sz="900" dirty="0">
                <a:solidFill>
                  <a:srgbClr val="6E6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Tap to freeze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A6FAF3-7947-463B-B3F6-B6ECD736F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60" y="2508288"/>
            <a:ext cx="907465" cy="907465"/>
          </a:xfrm>
          <a:prstGeom prst="rect">
            <a:avLst/>
          </a:prstGeom>
        </p:spPr>
      </p:pic>
      <p:pic>
        <p:nvPicPr>
          <p:cNvPr id="2050" name="Picture 2" descr="Camera ">
            <a:extLst>
              <a:ext uri="{FF2B5EF4-FFF2-40B4-BE49-F238E27FC236}">
                <a16:creationId xmlns:a16="http://schemas.microsoft.com/office/drawing/2014/main" id="{70A2FC23-3DBB-16A4-EBDD-F40263CC2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250" y="2522286"/>
            <a:ext cx="912220" cy="912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8F011F-2B8F-66AD-C99E-E7DBF3AA1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515" y="2522286"/>
            <a:ext cx="906969" cy="906969"/>
          </a:xfrm>
          <a:prstGeom prst="rect">
            <a:avLst/>
          </a:prstGeom>
        </p:spPr>
      </p:pic>
      <p:pic>
        <p:nvPicPr>
          <p:cNvPr id="2052" name="Picture 4" descr="Translation ">
            <a:extLst>
              <a:ext uri="{FF2B5EF4-FFF2-40B4-BE49-F238E27FC236}">
                <a16:creationId xmlns:a16="http://schemas.microsoft.com/office/drawing/2014/main" id="{B140D530-FE4E-C92A-CD02-7EE528016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972" y="2522286"/>
            <a:ext cx="867335" cy="8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ayers ">
            <a:extLst>
              <a:ext uri="{FF2B5EF4-FFF2-40B4-BE49-F238E27FC236}">
                <a16:creationId xmlns:a16="http://schemas.microsoft.com/office/drawing/2014/main" id="{15B6151B-07FD-399C-7B56-10CAF8565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974" y="2508610"/>
            <a:ext cx="934319" cy="934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Architecture &amp; Processing Pipeline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Three-layer modular design · end-to-end data flow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207008"/>
            <a:ext cx="2377440" cy="237744"/>
          </a:xfrm>
          <a:prstGeom prst="roundRect">
            <a:avLst>
              <a:gd name="adj" fmla="val 192308"/>
            </a:avLst>
          </a:prstGeom>
          <a:solidFill>
            <a:srgbClr val="32ADE6">
              <a:alpha val="18000"/>
            </a:srgbClr>
          </a:solidFill>
          <a:ln w="12700">
            <a:solidFill>
              <a:srgbClr val="32ADE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207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2ADE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UI LAYER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55448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Camera Preview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" y="1975104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19751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Language Selector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4360" y="2395728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23957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Freeze-Frame Mode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281635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28163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Status Indicator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154680" y="19659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EAEB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55848" y="105156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93008" y="1207008"/>
            <a:ext cx="2377440" cy="237744"/>
          </a:xfrm>
          <a:prstGeom prst="roundRect">
            <a:avLst>
              <a:gd name="adj" fmla="val 192308"/>
            </a:avLst>
          </a:prstGeom>
          <a:solidFill>
            <a:srgbClr val="0071E3">
              <a:alpha val="18000"/>
            </a:srgbClr>
          </a:solidFill>
          <a:ln w="12700">
            <a:solidFill>
              <a:srgbClr val="0071E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93008" y="1207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71E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APPLICATION CONTROL LAYER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493008" y="155448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84448" y="1554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MainActivity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493008" y="1975104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584448" y="19751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OCR Coordinator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493008" y="2395728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584448" y="23957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Tracking Controller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493008" y="281635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584448" y="28163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Frame State Mgmt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53328" y="19659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EAEB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54496" y="105156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91656" y="1207008"/>
            <a:ext cx="2377440" cy="237744"/>
          </a:xfrm>
          <a:prstGeom prst="roundRect">
            <a:avLst>
              <a:gd name="adj" fmla="val 192308"/>
            </a:avLst>
          </a:prstGeom>
          <a:solidFill>
            <a:srgbClr val="BF5AF2">
              <a:alpha val="18000"/>
            </a:srgbClr>
          </a:solidFill>
          <a:ln w="12700">
            <a:solidFill>
              <a:srgbClr val="BF5AF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91656" y="1207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5AF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ON-DEVICE PROCESSING LAYER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391656" y="155448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83096" y="1554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OcrService (ML Kit + OpenCV)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91656" y="1975104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83096" y="19751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TranslationService (NMT)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391656" y="2395728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83096" y="23957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TrackingEngine (Affine)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391656" y="281635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83096" y="28163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SceneTextReplacer (Inpaint)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3152" y="3666744"/>
            <a:ext cx="1097280" cy="749808"/>
          </a:xfrm>
          <a:prstGeom prst="roundRect">
            <a:avLst>
              <a:gd name="adj" fmla="val 26829"/>
            </a:avLst>
          </a:prstGeom>
          <a:solidFill>
            <a:schemeClr val="bg2">
              <a:lumMod val="90000"/>
              <a:alpha val="9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SG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3152" y="3739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Camera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152" y="4087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CameraX</a:t>
            </a:r>
            <a:endParaRPr lang="en-US" sz="95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207008" y="387705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</a:t>
            </a:r>
            <a:endParaRPr lang="en-US" sz="13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389888" y="3666744"/>
            <a:ext cx="1097280" cy="749808"/>
          </a:xfrm>
          <a:prstGeom prst="roundRect">
            <a:avLst>
              <a:gd name="adj" fmla="val 26829"/>
            </a:avLst>
          </a:prstGeom>
          <a:solidFill>
            <a:srgbClr val="DADADA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SG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389888" y="3739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Motion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389888" y="4087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OpenCV</a:t>
            </a:r>
            <a:endParaRPr lang="en-US" sz="95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523744" y="387705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</a:t>
            </a:r>
            <a:endParaRPr lang="en-US" sz="13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706624" y="3666744"/>
            <a:ext cx="1097280" cy="749808"/>
          </a:xfrm>
          <a:prstGeom prst="roundRect">
            <a:avLst>
              <a:gd name="adj" fmla="val 26829"/>
            </a:avLst>
          </a:prstGeom>
          <a:solidFill>
            <a:srgbClr val="E2E2E2">
              <a:alpha val="89804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SG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706624" y="3739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OCR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706624" y="4087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ML Kit</a:t>
            </a:r>
            <a:endParaRPr lang="en-US" sz="95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840480" y="387705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</a:t>
            </a:r>
            <a:endParaRPr lang="en-US" sz="13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023360" y="3666744"/>
            <a:ext cx="1097280" cy="749808"/>
          </a:xfrm>
          <a:prstGeom prst="roundRect">
            <a:avLst>
              <a:gd name="adj" fmla="val 26829"/>
            </a:avLst>
          </a:prstGeom>
          <a:solidFill>
            <a:srgbClr val="E8E8E8">
              <a:alpha val="89804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SG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023360" y="3739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LangID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023360" y="4087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ML Kit</a:t>
            </a:r>
            <a:endParaRPr lang="en-US" sz="95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157216" y="387705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</a:t>
            </a:r>
            <a:endParaRPr lang="en-US" sz="13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340096" y="3666744"/>
            <a:ext cx="1097280" cy="749808"/>
          </a:xfrm>
          <a:prstGeom prst="roundRect">
            <a:avLst>
              <a:gd name="adj" fmla="val 26829"/>
            </a:avLst>
          </a:prstGeom>
          <a:solidFill>
            <a:srgbClr val="F0F0F0">
              <a:alpha val="89804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SG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340096" y="3739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Translate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340096" y="4087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ML Kit</a:t>
            </a:r>
            <a:endParaRPr lang="en-US" sz="95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473952" y="387705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</a:t>
            </a:r>
            <a:endParaRPr lang="en-US" sz="13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656832" y="3666744"/>
            <a:ext cx="1097280" cy="749808"/>
          </a:xfrm>
          <a:prstGeom prst="roundRect">
            <a:avLst>
              <a:gd name="adj" fmla="val 26829"/>
            </a:avLst>
          </a:prstGeom>
          <a:solidFill>
            <a:srgbClr val="F8F8F8">
              <a:alpha val="89804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SG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656832" y="3739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Inpaint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656832" y="4087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OpenCV</a:t>
            </a:r>
            <a:endParaRPr lang="en-US" sz="95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790688" y="387705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</a:t>
            </a:r>
            <a:endParaRPr lang="en-US" sz="13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973568" y="3666744"/>
            <a:ext cx="1097280" cy="749808"/>
          </a:xfrm>
          <a:prstGeom prst="roundRect">
            <a:avLst>
              <a:gd name="adj" fmla="val 26829"/>
            </a:avLst>
          </a:prstGeom>
          <a:solidFill>
            <a:schemeClr val="bg1">
              <a:alpha val="9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SG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973568" y="3739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Overlay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973568" y="4087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OpenCV</a:t>
            </a:r>
            <a:endParaRPr lang="en-US" sz="95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Implementation: OCR &amp; Motion Detection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Stable-frame gating reduces wasted compute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Motion-Stability Gate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4069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3504" y="1545336"/>
            <a:ext cx="329184" cy="32918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3504" y="1545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8992" y="144475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Convert frame to grayscale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069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" y="2203704"/>
            <a:ext cx="329184" cy="329184"/>
          </a:xfrm>
          <a:prstGeom prst="ellipse">
            <a:avLst/>
          </a:prstGeom>
          <a:solidFill>
            <a:srgbClr val="32ADE6"/>
          </a:solidFill>
          <a:ln w="12700">
            <a:solidFill>
              <a:srgbClr val="32ADE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3504" y="2203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78992" y="210312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Compute absolute difference vs. previous frame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761488"/>
            <a:ext cx="4069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3504" y="2862072"/>
            <a:ext cx="329184" cy="329184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3504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78992" y="276148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Mean pixel diff &lt; threshold → frame is stable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419856"/>
            <a:ext cx="4069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" y="3520440"/>
            <a:ext cx="329184" cy="329184"/>
          </a:xfrm>
          <a:prstGeom prst="ellipse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3504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78992" y="3419856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Submit stable frame to ML Kit OCR analyzer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078224"/>
            <a:ext cx="40690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3504" y="4178808"/>
            <a:ext cx="329184" cy="329184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3504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78992" y="4078224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Cache results; skip OCR while camera is moving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09160" y="1078992"/>
            <a:ext cx="39776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92040" y="1243584"/>
            <a:ext cx="1463040" cy="256032"/>
          </a:xfrm>
          <a:prstGeom prst="roundRect">
            <a:avLst>
              <a:gd name="adj" fmla="val 178571"/>
            </a:avLst>
          </a:prstGeom>
          <a:solidFill>
            <a:srgbClr val="BF5AF2">
              <a:alpha val="18000"/>
            </a:srgbClr>
          </a:solidFill>
          <a:ln w="12700">
            <a:solidFill>
              <a:srgbClr val="BF5AF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92040" y="12435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5AF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ML KIT OCR OUTPUT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46320" y="1627632"/>
            <a:ext cx="3703320" cy="420624"/>
          </a:xfrm>
          <a:prstGeom prst="roundRect">
            <a:avLst>
              <a:gd name="adj" fmla="val 17391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974336" y="162763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F5AF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Text Blocks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36208" y="162763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Logical groupings of lines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46320" y="2130552"/>
            <a:ext cx="3703320" cy="420624"/>
          </a:xfrm>
          <a:prstGeom prst="roundRect">
            <a:avLst>
              <a:gd name="adj" fmla="val 17391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74336" y="213055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F5AF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Bounding Boxes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36208" y="21305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Pixel coordinates per text line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46320" y="2633472"/>
            <a:ext cx="3703320" cy="420624"/>
          </a:xfrm>
          <a:prstGeom prst="roundRect">
            <a:avLst>
              <a:gd name="adj" fmla="val 17391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974336" y="263347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F5AF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Corner Points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236208" y="26334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4-point polygon per text region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846320" y="3136392"/>
            <a:ext cx="3703320" cy="420624"/>
          </a:xfrm>
          <a:prstGeom prst="roundRect">
            <a:avLst>
              <a:gd name="adj" fmla="val 17391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974336" y="31363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F5AF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 Support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236208" y="313639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Latin, Chinese, Japanese, Korean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846320" y="3639312"/>
            <a:ext cx="3703320" cy="420624"/>
          </a:xfrm>
          <a:prstGeom prst="roundRect">
            <a:avLst>
              <a:gd name="adj" fmla="val 17391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974336" y="363931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F5AF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Language Hint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236208" y="363931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Informs which OCR model to select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846320" y="4142232"/>
            <a:ext cx="3703320" cy="420624"/>
          </a:xfrm>
          <a:prstGeom prst="roundRect">
            <a:avLst>
              <a:gd name="adj" fmla="val 17391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974336" y="414223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F5AF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Confidence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236208" y="414223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Used to filter low-quality detections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Implementation: Scene Text Replacement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19" y="694944"/>
            <a:ext cx="83575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Inpainting the original text, re-rendering the translation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04753" y="1208532"/>
            <a:ext cx="2651760" cy="37338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5921" y="1373124"/>
            <a:ext cx="329184" cy="32918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5921" y="13731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3121" y="13456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Detect &amp; Extract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9345" y="1830324"/>
            <a:ext cx="23225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OCR returns a 4-point bounding polygon per text region. The region is cropped from the live camera frame for processing.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99091" y="26624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EAEB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67409" y="1208532"/>
            <a:ext cx="2651760" cy="37338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71578" y="1385096"/>
            <a:ext cx="329184" cy="329184"/>
          </a:xfrm>
          <a:prstGeom prst="ellipse">
            <a:avLst/>
          </a:prstGeom>
          <a:solidFill>
            <a:srgbClr val="32ADE6"/>
          </a:solidFill>
          <a:ln w="12700">
            <a:solidFill>
              <a:srgbClr val="32ADE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71578" y="1385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28778" y="13576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OpenCV Inpainting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53290" y="1833914"/>
            <a:ext cx="2313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binary mask covers the detected text area. OpenCV reconstructs the background texture from neighbouring pixels, removing the original text.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25274" y="3114074"/>
            <a:ext cx="22860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2ADE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masked area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32ADE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background reconstruction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19169" y="2657883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EAEB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62915" y="1208532"/>
            <a:ext cx="2651760" cy="37338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64083" y="1373124"/>
            <a:ext cx="329184" cy="329184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64083" y="13731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21283" y="13456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Re-render Translation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27507" y="1830324"/>
            <a:ext cx="23225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Translated text is drawn back at the original location with auto-scaled font, maintaining spatial layout and scene coherence.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45795" y="3110484"/>
            <a:ext cx="22860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C75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translated text drawn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34C75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auto-scaled font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9295222-5BE9-0A79-7787-97748E017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515" y="2827020"/>
            <a:ext cx="2203704" cy="197335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277B271-0193-0D43-0C2B-C1E32B9ED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3290" y="2822475"/>
            <a:ext cx="2267712" cy="2009662"/>
          </a:xfrm>
          <a:prstGeom prst="rect">
            <a:avLst/>
          </a:prstGeom>
        </p:spPr>
      </p:pic>
      <p:sp>
        <p:nvSpPr>
          <p:cNvPr id="18" name="Shape 8">
            <a:extLst>
              <a:ext uri="{FF2B5EF4-FFF2-40B4-BE49-F238E27FC236}">
                <a16:creationId xmlns:a16="http://schemas.microsoft.com/office/drawing/2014/main" id="{26F48C07-6FC1-8B86-CA15-560172736F46}"/>
              </a:ext>
            </a:extLst>
          </p:cNvPr>
          <p:cNvSpPr/>
          <p:nvPr/>
        </p:nvSpPr>
        <p:spPr>
          <a:xfrm>
            <a:off x="487633" y="3110484"/>
            <a:ext cx="2286000" cy="1426464"/>
          </a:xfrm>
          <a:prstGeom prst="roundRect">
            <a:avLst>
              <a:gd name="adj" fmla="val 7692"/>
            </a:avLst>
          </a:prstGeom>
          <a:solidFill>
            <a:srgbClr val="0071E3">
              <a:alpha val="12000"/>
            </a:srgbClr>
          </a:solidFill>
          <a:ln w="12700">
            <a:solidFill>
              <a:srgbClr val="0071E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6A1ECF08-A9B3-AE63-F54C-02C5B72A370B}"/>
              </a:ext>
            </a:extLst>
          </p:cNvPr>
          <p:cNvSpPr/>
          <p:nvPr/>
        </p:nvSpPr>
        <p:spPr>
          <a:xfrm>
            <a:off x="487633" y="3110484"/>
            <a:ext cx="22860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1E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original text region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0071E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bounding polygon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3170FA7-1FD1-F714-4CB5-4DBE40E84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33" y="2828430"/>
            <a:ext cx="2286000" cy="1893876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D771479-D3FA-CC9F-B87F-772BA0D6B31E}"/>
              </a:ext>
            </a:extLst>
          </p:cNvPr>
          <p:cNvSpPr/>
          <p:nvPr/>
        </p:nvSpPr>
        <p:spPr>
          <a:xfrm>
            <a:off x="538163" y="3721894"/>
            <a:ext cx="1221581" cy="27860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6418D44-22BA-C104-2D9A-ABC783B15A86}"/>
              </a:ext>
            </a:extLst>
          </p:cNvPr>
          <p:cNvSpPr/>
          <p:nvPr/>
        </p:nvSpPr>
        <p:spPr>
          <a:xfrm>
            <a:off x="505921" y="3702844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3765E3E-8517-3431-B65F-02EED4DE85E4}"/>
              </a:ext>
            </a:extLst>
          </p:cNvPr>
          <p:cNvSpPr/>
          <p:nvPr/>
        </p:nvSpPr>
        <p:spPr>
          <a:xfrm>
            <a:off x="1732313" y="3699034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D71BFCA-4169-A3FF-0F37-B355111378CC}"/>
              </a:ext>
            </a:extLst>
          </p:cNvPr>
          <p:cNvSpPr/>
          <p:nvPr/>
        </p:nvSpPr>
        <p:spPr>
          <a:xfrm>
            <a:off x="515304" y="3979811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54C72C2-F8B6-721A-3925-9AF972977AD3}"/>
              </a:ext>
            </a:extLst>
          </p:cNvPr>
          <p:cNvSpPr/>
          <p:nvPr/>
        </p:nvSpPr>
        <p:spPr>
          <a:xfrm>
            <a:off x="1736884" y="3976002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7553092-54DD-1F12-0AF8-0A9E108C8325}"/>
              </a:ext>
            </a:extLst>
          </p:cNvPr>
          <p:cNvSpPr/>
          <p:nvPr/>
        </p:nvSpPr>
        <p:spPr>
          <a:xfrm>
            <a:off x="2088928" y="3532631"/>
            <a:ext cx="663797" cy="18926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6A03383-1D2E-C3FF-B617-67E3FAA02EDB}"/>
              </a:ext>
            </a:extLst>
          </p:cNvPr>
          <p:cNvSpPr/>
          <p:nvPr/>
        </p:nvSpPr>
        <p:spPr>
          <a:xfrm>
            <a:off x="2063257" y="3702844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47D8AEA-2044-2092-98DF-55FB715CE02D}"/>
              </a:ext>
            </a:extLst>
          </p:cNvPr>
          <p:cNvSpPr/>
          <p:nvPr/>
        </p:nvSpPr>
        <p:spPr>
          <a:xfrm>
            <a:off x="2727914" y="3509771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6D20D76-D8AB-BE87-9B87-A8C479154CC6}"/>
              </a:ext>
            </a:extLst>
          </p:cNvPr>
          <p:cNvSpPr/>
          <p:nvPr/>
        </p:nvSpPr>
        <p:spPr>
          <a:xfrm>
            <a:off x="2725294" y="3706921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63D8A9B-690A-5046-D52E-B42D1BD09D50}"/>
              </a:ext>
            </a:extLst>
          </p:cNvPr>
          <p:cNvSpPr/>
          <p:nvPr/>
        </p:nvSpPr>
        <p:spPr>
          <a:xfrm>
            <a:off x="2064543" y="3513947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I Showcase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2920" y="100000"/>
            <a:ext cx="81381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 Showcase: Before &amp; After</a:t>
            </a:r>
          </a:p>
        </p:txBody>
      </p:sp>
      <p:sp>
        <p:nvSpPr>
          <p:cNvPr id="5" name="OrigPill"/>
          <p:cNvSpPr/>
          <p:nvPr/>
        </p:nvSpPr>
        <p:spPr>
          <a:xfrm>
            <a:off x="2432000" y="545900"/>
            <a:ext cx="1020000" cy="185000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ORIGINAL</a:t>
            </a:r>
          </a:p>
        </p:txBody>
      </p:sp>
      <p:sp>
        <p:nvSpPr>
          <p:cNvPr id="6" name="TransPill"/>
          <p:cNvSpPr/>
          <p:nvPr/>
        </p:nvSpPr>
        <p:spPr>
          <a:xfrm>
            <a:off x="5612000" y="509250"/>
            <a:ext cx="1140000" cy="1850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TRANSLATED</a:t>
            </a:r>
          </a:p>
        </p:txBody>
      </p:sp>
      <p:sp>
        <p:nvSpPr>
          <p:cNvPr id="10" name="PH1Body"/>
          <p:cNvSpPr/>
          <p:nvPr/>
        </p:nvSpPr>
        <p:spPr>
          <a:xfrm>
            <a:off x="2052000" y="810000"/>
            <a:ext cx="1800000" cy="3740000"/>
          </a:xfrm>
          <a:prstGeom prst="roundRect">
            <a:avLst>
              <a:gd name="adj" fmla="val 13000"/>
            </a:avLst>
          </a:prstGeom>
          <a:solidFill>
            <a:srgbClr val="1B1B1F"/>
          </a:solidFill>
          <a:ln w="0">
            <a:noFill/>
          </a:ln>
          <a:effectLst>
            <a:outerShdw blurRad="304800" dist="762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PH1Pwr"/>
          <p:cNvSpPr/>
          <p:nvPr/>
        </p:nvSpPr>
        <p:spPr>
          <a:xfrm>
            <a:off x="3852000" y="1700000"/>
            <a:ext cx="55000" cy="310000"/>
          </a:xfrm>
          <a:prstGeom prst="roundRect">
            <a:avLst>
              <a:gd name="adj" fmla="val 50000"/>
            </a:avLst>
          </a:prstGeom>
          <a:solidFill>
            <a:srgbClr val="2E2E34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H1VolU"/>
          <p:cNvSpPr/>
          <p:nvPr/>
        </p:nvSpPr>
        <p:spPr>
          <a:xfrm>
            <a:off x="1997000" y="1580000"/>
            <a:ext cx="55000" cy="215000"/>
          </a:xfrm>
          <a:prstGeom prst="roundRect">
            <a:avLst>
              <a:gd name="adj" fmla="val 50000"/>
            </a:avLst>
          </a:prstGeom>
          <a:solidFill>
            <a:srgbClr val="2E2E34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PH1VolD"/>
          <p:cNvSpPr/>
          <p:nvPr/>
        </p:nvSpPr>
        <p:spPr>
          <a:xfrm>
            <a:off x="1997000" y="1820000"/>
            <a:ext cx="55000" cy="185000"/>
          </a:xfrm>
          <a:prstGeom prst="roundRect">
            <a:avLst>
              <a:gd name="adj" fmla="val 50000"/>
            </a:avLst>
          </a:prstGeom>
          <a:solidFill>
            <a:srgbClr val="2E2E34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PH1Screen"/>
          <p:cNvSpPr/>
          <p:nvPr/>
        </p:nvSpPr>
        <p:spPr>
          <a:xfrm>
            <a:off x="2124000" y="1050000"/>
            <a:ext cx="1656000" cy="3310000"/>
          </a:xfrm>
          <a:prstGeom prst="roundRect">
            <a:avLst>
              <a:gd name="adj" fmla="val 9500"/>
            </a:avLst>
          </a:prstGeom>
          <a:solidFill>
            <a:srgbClr val="E0E0E5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H1Hint"/>
          <p:cNvSpPr/>
          <p:nvPr/>
        </p:nvSpPr>
        <p:spPr>
          <a:xfrm>
            <a:off x="2124000" y="2480000"/>
            <a:ext cx="1656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dirty="0">
                <a:solidFill>
                  <a:srgbClr val="9E9E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Insert screenshot ]</a:t>
            </a:r>
          </a:p>
        </p:txBody>
      </p:sp>
      <p:sp>
        <p:nvSpPr>
          <p:cNvPr id="16" name="PH1Status"/>
          <p:cNvSpPr/>
          <p:nvPr/>
        </p:nvSpPr>
        <p:spPr>
          <a:xfrm>
            <a:off x="2124000" y="1050000"/>
            <a:ext cx="1656000" cy="190000"/>
          </a:xfrm>
          <a:prstGeom prst="roundRect">
            <a:avLst>
              <a:gd name="adj" fmla="val 9500"/>
            </a:avLst>
          </a:prstGeom>
          <a:solidFill>
            <a:srgbClr val="CCCCCC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PH1Cam"/>
          <p:cNvSpPr/>
          <p:nvPr/>
        </p:nvSpPr>
        <p:spPr>
          <a:xfrm>
            <a:off x="2890000" y="1133000"/>
            <a:ext cx="124000" cy="124000"/>
          </a:xfrm>
          <a:prstGeom prst="ellipse">
            <a:avLst/>
          </a:prstGeom>
          <a:solidFill>
            <a:srgbClr val="111115"/>
          </a:solidFill>
          <a:ln w="9525">
            <a:solidFill>
              <a:srgbClr val="1B1B1F"/>
            </a:solidFill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PH1CamGlint"/>
          <p:cNvSpPr/>
          <p:nvPr/>
        </p:nvSpPr>
        <p:spPr>
          <a:xfrm>
            <a:off x="2915000" y="1158000"/>
            <a:ext cx="54000" cy="54000"/>
          </a:xfrm>
          <a:prstGeom prst="ellipse">
            <a:avLst/>
          </a:prstGeom>
          <a:solidFill>
            <a:srgbClr val="2A2A40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PH1Nav"/>
          <p:cNvSpPr/>
          <p:nvPr/>
        </p:nvSpPr>
        <p:spPr>
          <a:xfrm>
            <a:off x="2124000" y="4215000"/>
            <a:ext cx="1656000" cy="145000"/>
          </a:xfrm>
          <a:prstGeom prst="roundRect">
            <a:avLst>
              <a:gd name="adj" fmla="val 9500"/>
            </a:avLst>
          </a:prstGeom>
          <a:solidFill>
            <a:srgbClr val="D4D4DA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PH1Spk"/>
          <p:cNvSpPr/>
          <p:nvPr/>
        </p:nvSpPr>
        <p:spPr>
          <a:xfrm>
            <a:off x="2762000" y="845000"/>
            <a:ext cx="380000" cy="58000"/>
          </a:xfrm>
          <a:prstGeom prst="roundRect">
            <a:avLst>
              <a:gd name="adj" fmla="val 50000"/>
            </a:avLst>
          </a:prstGeom>
          <a:solidFill>
            <a:srgbClr val="2C2C32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PH1USB"/>
          <p:cNvSpPr/>
          <p:nvPr/>
        </p:nvSpPr>
        <p:spPr>
          <a:xfrm>
            <a:off x="2822000" y="4495000"/>
            <a:ext cx="260000" cy="64000"/>
          </a:xfrm>
          <a:prstGeom prst="roundRect">
            <a:avLst>
              <a:gd name="adj" fmla="val 50000"/>
            </a:avLst>
          </a:prstGeom>
          <a:solidFill>
            <a:srgbClr val="2C2C32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Arrow"/>
          <p:cNvSpPr/>
          <p:nvPr/>
        </p:nvSpPr>
        <p:spPr>
          <a:xfrm>
            <a:off x="4222000" y="2540000"/>
            <a:ext cx="700000" cy="28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1E3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PH2Body"/>
          <p:cNvSpPr/>
          <p:nvPr/>
        </p:nvSpPr>
        <p:spPr>
          <a:xfrm>
            <a:off x="5292000" y="810000"/>
            <a:ext cx="1800000" cy="3740000"/>
          </a:xfrm>
          <a:prstGeom prst="roundRect">
            <a:avLst>
              <a:gd name="adj" fmla="val 13000"/>
            </a:avLst>
          </a:prstGeom>
          <a:solidFill>
            <a:srgbClr val="1B1B1F"/>
          </a:solidFill>
          <a:ln w="9525">
            <a:solidFill>
              <a:srgbClr val="0071E3"/>
            </a:solidFill>
            <a:prstDash val="solid"/>
          </a:ln>
          <a:effectLst>
            <a:outerShdw blurRad="304800" dist="76200" dir="8100000" algn="bl" rotWithShape="0">
              <a:srgbClr val="0071E3">
                <a:alpha val="25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PH2Pwr"/>
          <p:cNvSpPr/>
          <p:nvPr/>
        </p:nvSpPr>
        <p:spPr>
          <a:xfrm>
            <a:off x="7092000" y="1700000"/>
            <a:ext cx="55000" cy="310000"/>
          </a:xfrm>
          <a:prstGeom prst="roundRect">
            <a:avLst>
              <a:gd name="adj" fmla="val 50000"/>
            </a:avLst>
          </a:prstGeom>
          <a:solidFill>
            <a:srgbClr val="2E2E34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PH2VolU"/>
          <p:cNvSpPr/>
          <p:nvPr/>
        </p:nvSpPr>
        <p:spPr>
          <a:xfrm>
            <a:off x="5237000" y="1580000"/>
            <a:ext cx="55000" cy="215000"/>
          </a:xfrm>
          <a:prstGeom prst="roundRect">
            <a:avLst>
              <a:gd name="adj" fmla="val 50000"/>
            </a:avLst>
          </a:prstGeom>
          <a:solidFill>
            <a:srgbClr val="2E2E34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PH2VolD"/>
          <p:cNvSpPr/>
          <p:nvPr/>
        </p:nvSpPr>
        <p:spPr>
          <a:xfrm>
            <a:off x="5237000" y="1820000"/>
            <a:ext cx="55000" cy="185000"/>
          </a:xfrm>
          <a:prstGeom prst="roundRect">
            <a:avLst>
              <a:gd name="adj" fmla="val 50000"/>
            </a:avLst>
          </a:prstGeom>
          <a:solidFill>
            <a:srgbClr val="2E2E34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PH2Screen"/>
          <p:cNvSpPr/>
          <p:nvPr/>
        </p:nvSpPr>
        <p:spPr>
          <a:xfrm>
            <a:off x="5364000" y="1050000"/>
            <a:ext cx="1656000" cy="3310000"/>
          </a:xfrm>
          <a:prstGeom prst="roundRect">
            <a:avLst>
              <a:gd name="adj" fmla="val 9500"/>
            </a:avLst>
          </a:prstGeom>
          <a:solidFill>
            <a:srgbClr val="E8F4FD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PH2Hint"/>
          <p:cNvSpPr/>
          <p:nvPr/>
        </p:nvSpPr>
        <p:spPr>
          <a:xfrm>
            <a:off x="5364000" y="2480000"/>
            <a:ext cx="1656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dirty="0">
                <a:solidFill>
                  <a:srgbClr val="0071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Insert screenshot ]</a:t>
            </a:r>
          </a:p>
        </p:txBody>
      </p:sp>
      <p:sp>
        <p:nvSpPr>
          <p:cNvPr id="46" name="PH2Status"/>
          <p:cNvSpPr/>
          <p:nvPr/>
        </p:nvSpPr>
        <p:spPr>
          <a:xfrm>
            <a:off x="5364000" y="1050000"/>
            <a:ext cx="1656000" cy="190000"/>
          </a:xfrm>
          <a:prstGeom prst="roundRect">
            <a:avLst>
              <a:gd name="adj" fmla="val 9500"/>
            </a:avLst>
          </a:prstGeom>
          <a:solidFill>
            <a:srgbClr val="C2DDEE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PH2Cam"/>
          <p:cNvSpPr/>
          <p:nvPr/>
        </p:nvSpPr>
        <p:spPr>
          <a:xfrm>
            <a:off x="6130000" y="1133000"/>
            <a:ext cx="124000" cy="124000"/>
          </a:xfrm>
          <a:prstGeom prst="ellipse">
            <a:avLst/>
          </a:prstGeom>
          <a:solidFill>
            <a:srgbClr val="111115"/>
          </a:solidFill>
          <a:ln w="9525">
            <a:solidFill>
              <a:srgbClr val="1B1B1F"/>
            </a:solidFill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PH2CamGlint"/>
          <p:cNvSpPr/>
          <p:nvPr/>
        </p:nvSpPr>
        <p:spPr>
          <a:xfrm>
            <a:off x="6155000" y="1158000"/>
            <a:ext cx="54000" cy="54000"/>
          </a:xfrm>
          <a:prstGeom prst="ellipse">
            <a:avLst/>
          </a:prstGeom>
          <a:solidFill>
            <a:srgbClr val="2A2A40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PH2Nav"/>
          <p:cNvSpPr/>
          <p:nvPr/>
        </p:nvSpPr>
        <p:spPr>
          <a:xfrm>
            <a:off x="5364000" y="4215000"/>
            <a:ext cx="1656000" cy="145000"/>
          </a:xfrm>
          <a:prstGeom prst="roundRect">
            <a:avLst>
              <a:gd name="adj" fmla="val 9500"/>
            </a:avLst>
          </a:prstGeom>
          <a:solidFill>
            <a:srgbClr val="C2DDEE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PH2Spk"/>
          <p:cNvSpPr/>
          <p:nvPr/>
        </p:nvSpPr>
        <p:spPr>
          <a:xfrm>
            <a:off x="6002000" y="845000"/>
            <a:ext cx="380000" cy="58000"/>
          </a:xfrm>
          <a:prstGeom prst="roundRect">
            <a:avLst>
              <a:gd name="adj" fmla="val 50000"/>
            </a:avLst>
          </a:prstGeom>
          <a:solidFill>
            <a:srgbClr val="2C2C32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PH2USB"/>
          <p:cNvSpPr/>
          <p:nvPr/>
        </p:nvSpPr>
        <p:spPr>
          <a:xfrm>
            <a:off x="6062000" y="4495000"/>
            <a:ext cx="260000" cy="64000"/>
          </a:xfrm>
          <a:prstGeom prst="roundRect">
            <a:avLst>
              <a:gd name="adj" fmla="val 50000"/>
            </a:avLst>
          </a:prstGeom>
          <a:solidFill>
            <a:srgbClr val="2C2C32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CapL"/>
          <p:cNvSpPr/>
          <p:nvPr/>
        </p:nvSpPr>
        <p:spPr>
          <a:xfrm>
            <a:off x="2052000" y="4640000"/>
            <a:ext cx="18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6E6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Original camera frame</a:t>
            </a:r>
          </a:p>
        </p:txBody>
      </p:sp>
      <p:sp>
        <p:nvSpPr>
          <p:cNvPr id="61" name="CapR"/>
          <p:cNvSpPr/>
          <p:nvPr/>
        </p:nvSpPr>
        <p:spPr>
          <a:xfrm>
            <a:off x="5292000" y="4640000"/>
            <a:ext cx="18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0071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Inpainted + translated output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23749DE-1C6B-724E-D90B-9E127A7753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78"/>
          <a:stretch>
            <a:fillRect/>
          </a:stretch>
        </p:blipFill>
        <p:spPr>
          <a:xfrm>
            <a:off x="2124000" y="983000"/>
            <a:ext cx="1656000" cy="33712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3F398A9-7767-C714-233C-39B94DC120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74"/>
          <a:stretch>
            <a:fillRect/>
          </a:stretch>
        </p:blipFill>
        <p:spPr>
          <a:xfrm>
            <a:off x="5364000" y="983000"/>
            <a:ext cx="1656000" cy="337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ve Dem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Pill"/>
          <p:cNvSpPr/>
          <p:nvPr/>
        </p:nvSpPr>
        <p:spPr>
          <a:xfrm>
            <a:off x="430000" y="200000"/>
            <a:ext cx="1000000" cy="1950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 DEMO</a:t>
            </a:r>
          </a:p>
        </p:txBody>
      </p:sp>
      <p:sp>
        <p:nvSpPr>
          <p:cNvPr id="3" name="Title"/>
          <p:cNvSpPr/>
          <p:nvPr/>
        </p:nvSpPr>
        <p:spPr>
          <a:xfrm>
            <a:off x="206788" y="590000"/>
            <a:ext cx="3240712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TextLens in Action</a:t>
            </a:r>
          </a:p>
        </p:txBody>
      </p:sp>
      <p:sp>
        <p:nvSpPr>
          <p:cNvPr id="5" name="DivV"/>
          <p:cNvSpPr/>
          <p:nvPr/>
        </p:nvSpPr>
        <p:spPr>
          <a:xfrm>
            <a:off x="3220267" y="230000"/>
            <a:ext cx="18288" cy="4700000"/>
          </a:xfrm>
          <a:prstGeom prst="rect">
            <a:avLst/>
          </a:prstGeom>
          <a:solidFill>
            <a:srgbClr val="E5E5EA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WFHdr"/>
          <p:cNvSpPr/>
          <p:nvPr/>
        </p:nvSpPr>
        <p:spPr>
          <a:xfrm>
            <a:off x="277267" y="1285080"/>
            <a:ext cx="29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EAE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WATCH FOR</a:t>
            </a:r>
          </a:p>
        </p:txBody>
      </p:sp>
      <p:sp>
        <p:nvSpPr>
          <p:cNvPr id="7" name="WF1Dot"/>
          <p:cNvSpPr/>
          <p:nvPr/>
        </p:nvSpPr>
        <p:spPr>
          <a:xfrm>
            <a:off x="289733" y="1520000"/>
            <a:ext cx="80000" cy="80000"/>
          </a:xfrm>
          <a:prstGeom prst="ellipse">
            <a:avLst/>
          </a:prstGeom>
          <a:solidFill>
            <a:srgbClr val="0071E3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WF1Text"/>
          <p:cNvSpPr/>
          <p:nvPr/>
        </p:nvSpPr>
        <p:spPr>
          <a:xfrm>
            <a:off x="410000" y="1470000"/>
            <a:ext cx="277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Motion gate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E6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Overlay pauses when phone moves — OCR only on stable frames</a:t>
            </a:r>
          </a:p>
        </p:txBody>
      </p:sp>
      <p:sp>
        <p:nvSpPr>
          <p:cNvPr id="9" name="WF2Dot"/>
          <p:cNvSpPr/>
          <p:nvPr/>
        </p:nvSpPr>
        <p:spPr>
          <a:xfrm>
            <a:off x="289733" y="1980000"/>
            <a:ext cx="80000" cy="80000"/>
          </a:xfrm>
          <a:prstGeom prst="ellipse">
            <a:avLst/>
          </a:prstGeom>
          <a:solidFill>
            <a:srgbClr val="32ADE6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F2Text"/>
          <p:cNvSpPr/>
          <p:nvPr/>
        </p:nvSpPr>
        <p:spPr>
          <a:xfrm>
            <a:off x="410000" y="1930000"/>
            <a:ext cx="277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Inpainting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E6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Original text erased, background reconstructed by OpenCV</a:t>
            </a:r>
          </a:p>
        </p:txBody>
      </p:sp>
      <p:sp>
        <p:nvSpPr>
          <p:cNvPr id="11" name="WF3Dot"/>
          <p:cNvSpPr/>
          <p:nvPr/>
        </p:nvSpPr>
        <p:spPr>
          <a:xfrm>
            <a:off x="289733" y="2440000"/>
            <a:ext cx="80000" cy="80000"/>
          </a:xfrm>
          <a:prstGeom prst="ellipse">
            <a:avLst/>
          </a:prstGeom>
          <a:solidFill>
            <a:srgbClr val="34C759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F3Text"/>
          <p:cNvSpPr/>
          <p:nvPr/>
        </p:nvSpPr>
        <p:spPr>
          <a:xfrm>
            <a:off x="410000" y="2390000"/>
            <a:ext cx="277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Tap to freeze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E6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Translation locks in place so you can read at your own pace</a:t>
            </a:r>
          </a:p>
        </p:txBody>
      </p:sp>
      <p:sp>
        <p:nvSpPr>
          <p:cNvPr id="13" name="SeqBox"/>
          <p:cNvSpPr/>
          <p:nvPr/>
        </p:nvSpPr>
        <p:spPr>
          <a:xfrm>
            <a:off x="254500" y="3273501"/>
            <a:ext cx="2900000" cy="62000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 w="9525">
            <a:solidFill>
              <a:srgbClr val="D1D1D6"/>
            </a:solidFill>
            <a:prstDash val="solid"/>
          </a:ln>
        </p:spPr>
        <p:txBody>
          <a:bodyPr wrap="square" lIns="152400" tIns="152400" rIns="152400" bIns="152400" rtlCol="0" anchor="ctr" anchorCtr="0"/>
          <a:lstStyle/>
          <a:p>
            <a:pPr marL="0" indent="0">
              <a:buNone/>
            </a:pPr>
            <a:r>
              <a:rPr lang="en-US" sz="900" b="1" dirty="0">
                <a:solidFill>
                  <a:srgbClr val="AEAE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 SEQUENCE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D1D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 → Chinese → point at image → stable → overlay → tap freeze → screenshot option</a:t>
            </a:r>
          </a:p>
        </p:txBody>
      </p:sp>
      <p:sp>
        <p:nvSpPr>
          <p:cNvPr id="20" name="PhBody"/>
          <p:cNvSpPr/>
          <p:nvPr/>
        </p:nvSpPr>
        <p:spPr>
          <a:xfrm>
            <a:off x="3480000" y="202122"/>
            <a:ext cx="2120000" cy="4700000"/>
          </a:xfrm>
          <a:prstGeom prst="roundRect">
            <a:avLst>
              <a:gd name="adj" fmla="val 12000"/>
            </a:avLst>
          </a:prstGeom>
          <a:solidFill>
            <a:srgbClr val="1B1B1F"/>
          </a:solidFill>
          <a:ln w="0">
            <a:noFill/>
          </a:ln>
          <a:effectLst>
            <a:outerShdw blurRad="457200" dist="1143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PhPwr"/>
          <p:cNvSpPr/>
          <p:nvPr/>
        </p:nvSpPr>
        <p:spPr>
          <a:xfrm>
            <a:off x="5600000" y="1762122"/>
            <a:ext cx="65000" cy="380000"/>
          </a:xfrm>
          <a:prstGeom prst="roundRect">
            <a:avLst>
              <a:gd name="adj" fmla="val 50000"/>
            </a:avLst>
          </a:prstGeom>
          <a:solidFill>
            <a:srgbClr val="2E2E34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PhVolU"/>
          <p:cNvSpPr/>
          <p:nvPr/>
        </p:nvSpPr>
        <p:spPr>
          <a:xfrm>
            <a:off x="3415000" y="1642122"/>
            <a:ext cx="65000" cy="270000"/>
          </a:xfrm>
          <a:prstGeom prst="roundRect">
            <a:avLst>
              <a:gd name="adj" fmla="val 50000"/>
            </a:avLst>
          </a:prstGeom>
          <a:solidFill>
            <a:srgbClr val="2E2E34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PhVolD"/>
          <p:cNvSpPr/>
          <p:nvPr/>
        </p:nvSpPr>
        <p:spPr>
          <a:xfrm>
            <a:off x="3415000" y="1942122"/>
            <a:ext cx="65000" cy="225000"/>
          </a:xfrm>
          <a:prstGeom prst="roundRect">
            <a:avLst>
              <a:gd name="adj" fmla="val 50000"/>
            </a:avLst>
          </a:prstGeom>
          <a:solidFill>
            <a:srgbClr val="2E2E34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PhScreen"/>
          <p:cNvSpPr/>
          <p:nvPr/>
        </p:nvSpPr>
        <p:spPr>
          <a:xfrm>
            <a:off x="3566000" y="522122"/>
            <a:ext cx="1948000" cy="4280000"/>
          </a:xfrm>
          <a:prstGeom prst="roundRect">
            <a:avLst>
              <a:gd name="adj" fmla="val 8500"/>
            </a:avLst>
          </a:prstGeom>
          <a:solidFill>
            <a:srgbClr val="1C1C1E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PhContent"/>
          <p:cNvSpPr/>
          <p:nvPr/>
        </p:nvSpPr>
        <p:spPr>
          <a:xfrm>
            <a:off x="3566000" y="772122"/>
            <a:ext cx="1948000" cy="3780000"/>
          </a:xfrm>
          <a:prstGeom prst="rect">
            <a:avLst/>
          </a:prstGeom>
          <a:solidFill>
            <a:srgbClr val="242428"/>
          </a:solidFill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4848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Insert screen recording ]</a:t>
            </a:r>
          </a:p>
        </p:txBody>
      </p:sp>
      <p:sp>
        <p:nvSpPr>
          <p:cNvPr id="26" name="PlayBtn"/>
          <p:cNvSpPr/>
          <p:nvPr/>
        </p:nvSpPr>
        <p:spPr>
          <a:xfrm>
            <a:off x="4340000" y="2482122"/>
            <a:ext cx="400000" cy="400000"/>
          </a:xfrm>
          <a:prstGeom prst="ellipse">
            <a:avLst/>
          </a:prstGeom>
          <a:solidFill>
            <a:srgbClr val="0071E3">
              <a:alpha val="90000"/>
            </a:srgbClr>
          </a:solidFill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</a:p>
        </p:txBody>
      </p:sp>
      <p:sp>
        <p:nvSpPr>
          <p:cNvPr id="27" name="PhStatus"/>
          <p:cNvSpPr/>
          <p:nvPr/>
        </p:nvSpPr>
        <p:spPr>
          <a:xfrm>
            <a:off x="3566000" y="522122"/>
            <a:ext cx="1948000" cy="250000"/>
          </a:xfrm>
          <a:prstGeom prst="roundRect">
            <a:avLst>
              <a:gd name="adj" fmla="val 8500"/>
            </a:avLst>
          </a:prstGeom>
          <a:solidFill>
            <a:srgbClr val="161618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PhCam"/>
          <p:cNvSpPr/>
          <p:nvPr/>
        </p:nvSpPr>
        <p:spPr>
          <a:xfrm>
            <a:off x="4478000" y="602122"/>
            <a:ext cx="124000" cy="124000"/>
          </a:xfrm>
          <a:prstGeom prst="ellipse">
            <a:avLst/>
          </a:prstGeom>
          <a:solidFill>
            <a:srgbClr val="0A0A10"/>
          </a:solidFill>
          <a:ln w="9525">
            <a:solidFill>
              <a:srgbClr val="1B1B1F"/>
            </a:solidFill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PhCamGlint"/>
          <p:cNvSpPr/>
          <p:nvPr/>
        </p:nvSpPr>
        <p:spPr>
          <a:xfrm>
            <a:off x="4503000" y="627122"/>
            <a:ext cx="54000" cy="54000"/>
          </a:xfrm>
          <a:prstGeom prst="ellipse">
            <a:avLst/>
          </a:prstGeom>
          <a:solidFill>
            <a:srgbClr val="2A2A40">
              <a:alpha val="70000"/>
            </a:srgbClr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PhSpk"/>
          <p:cNvSpPr/>
          <p:nvPr/>
        </p:nvSpPr>
        <p:spPr>
          <a:xfrm>
            <a:off x="4340000" y="242122"/>
            <a:ext cx="400000" cy="60000"/>
          </a:xfrm>
          <a:prstGeom prst="roundRect">
            <a:avLst>
              <a:gd name="adj" fmla="val 50000"/>
            </a:avLst>
          </a:prstGeom>
          <a:solidFill>
            <a:srgbClr val="2C2C32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PhUSB"/>
          <p:cNvSpPr/>
          <p:nvPr/>
        </p:nvSpPr>
        <p:spPr>
          <a:xfrm>
            <a:off x="4440000" y="4962122"/>
            <a:ext cx="200000" cy="55000"/>
          </a:xfrm>
          <a:prstGeom prst="roundRect">
            <a:avLst>
              <a:gd name="adj" fmla="val 50000"/>
            </a:avLst>
          </a:prstGeom>
          <a:solidFill>
            <a:srgbClr val="2C2C32"/>
          </a:solidFill>
          <a:ln w="0"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2" name="PhNav"/>
          <p:cNvSpPr/>
          <p:nvPr/>
        </p:nvSpPr>
        <p:spPr>
          <a:xfrm>
            <a:off x="3566000" y="4412122"/>
            <a:ext cx="1948000" cy="190000"/>
          </a:xfrm>
          <a:prstGeom prst="roundRect">
            <a:avLst>
              <a:gd name="adj" fmla="val 8500"/>
            </a:avLst>
          </a:prstGeom>
          <a:solidFill>
            <a:srgbClr val="1C1C1E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DivV2"/>
          <p:cNvSpPr/>
          <p:nvPr/>
        </p:nvSpPr>
        <p:spPr>
          <a:xfrm>
            <a:off x="5836000" y="200000"/>
            <a:ext cx="18288" cy="4700000"/>
          </a:xfrm>
          <a:prstGeom prst="rect">
            <a:avLst/>
          </a:prstGeom>
          <a:solidFill>
            <a:srgbClr val="E5E5EA"/>
          </a:solidFill>
          <a:ln w="0">
            <a:noFill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tat1"/>
          <p:cNvSpPr/>
          <p:nvPr/>
        </p:nvSpPr>
        <p:spPr>
          <a:xfrm>
            <a:off x="5960000" y="300000"/>
            <a:ext cx="3000000" cy="88000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 w="9525">
            <a:solidFill>
              <a:srgbClr val="E5E5EA"/>
            </a:solidFill>
            <a:prstDash val="solid"/>
          </a:ln>
        </p:spPr>
        <p:txBody>
          <a:bodyPr wrap="square" lIns="152400" tIns="76200" rIns="152400" bIns="7620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1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820 ms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E6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End-to-end latency</a:t>
            </a:r>
          </a:p>
        </p:txBody>
      </p:sp>
      <p:sp>
        <p:nvSpPr>
          <p:cNvPr id="52" name="Stat2"/>
          <p:cNvSpPr/>
          <p:nvPr/>
        </p:nvSpPr>
        <p:spPr>
          <a:xfrm>
            <a:off x="5960000" y="1240000"/>
            <a:ext cx="3000000" cy="88000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 w="9525">
            <a:solidFill>
              <a:srgbClr val="E5E5EA"/>
            </a:solidFill>
            <a:prstDash val="solid"/>
          </a:ln>
        </p:spPr>
        <p:txBody>
          <a:bodyPr wrap="square" lIns="152400" tIns="76200" rIns="152400" bIns="7620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4C7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92.1%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E6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OCR detection precision</a:t>
            </a:r>
          </a:p>
        </p:txBody>
      </p:sp>
      <p:sp>
        <p:nvSpPr>
          <p:cNvPr id="53" name="Stat3"/>
          <p:cNvSpPr/>
          <p:nvPr/>
        </p:nvSpPr>
        <p:spPr>
          <a:xfrm>
            <a:off x="5960000" y="2180000"/>
            <a:ext cx="3000000" cy="88000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 w="9525">
            <a:solidFill>
              <a:srgbClr val="E5E5EA"/>
            </a:solidFill>
            <a:prstDash val="solid"/>
          </a:ln>
        </p:spPr>
        <p:txBody>
          <a:bodyPr wrap="square" lIns="152400" tIns="76200" rIns="152400" bIns="7620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F5A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4.2 / 5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E6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Translation quality score</a:t>
            </a:r>
          </a:p>
        </p:txBody>
      </p:sp>
      <p:sp>
        <p:nvSpPr>
          <p:cNvPr id="54" name="Stat4"/>
          <p:cNvSpPr/>
          <p:nvPr/>
        </p:nvSpPr>
        <p:spPr>
          <a:xfrm>
            <a:off x="5960000" y="3120000"/>
            <a:ext cx="3000000" cy="88000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 w="9525">
            <a:solidFill>
              <a:srgbClr val="E5E5EA"/>
            </a:solidFill>
            <a:prstDash val="solid"/>
          </a:ln>
        </p:spPr>
        <p:txBody>
          <a:bodyPr wrap="square" lIns="152400" tIns="76200" rIns="152400" bIns="7620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6B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 fps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E6E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Overlay render rate</a:t>
            </a:r>
          </a:p>
        </p:txBody>
      </p:sp>
      <p:sp>
        <p:nvSpPr>
          <p:cNvPr id="55" name="Badge"/>
          <p:cNvSpPr/>
          <p:nvPr/>
        </p:nvSpPr>
        <p:spPr>
          <a:xfrm>
            <a:off x="5960000" y="4060000"/>
            <a:ext cx="3000000" cy="3800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0"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Fully On-Device  ·  No Internet Required</a:t>
            </a:r>
          </a:p>
        </p:txBody>
      </p:sp>
      <p:pic>
        <p:nvPicPr>
          <p:cNvPr id="16" name="video6052942400035233924">
            <a:hlinkClick r:id="" action="ppaction://media"/>
            <a:extLst>
              <a:ext uri="{FF2B5EF4-FFF2-40B4-BE49-F238E27FC236}">
                <a16:creationId xmlns:a16="http://schemas.microsoft.com/office/drawing/2014/main" id="{EC2A44C4-81DB-3034-1257-F89A5932C94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85712" y="418840"/>
            <a:ext cx="1908576" cy="4241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516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 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testing and five performance dimensions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594360" y="1207008"/>
            <a:ext cx="2377440" cy="237744"/>
          </a:xfrm>
          <a:prstGeom prst="roundRect">
            <a:avLst>
              <a:gd name="adj" fmla="val 192308"/>
            </a:avLst>
          </a:prstGeom>
          <a:solidFill>
            <a:srgbClr val="0071E3">
              <a:alpha val="18000"/>
            </a:srgbClr>
          </a:solidFill>
          <a:ln w="12700">
            <a:solidFill>
              <a:srgbClr val="0071E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594360" y="1207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code mapping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cache logic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model-download state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3383280" y="1207008"/>
            <a:ext cx="2377440" cy="237744"/>
          </a:xfrm>
          <a:prstGeom prst="roundRect">
            <a:avLst>
              <a:gd name="adj" fmla="val 192308"/>
            </a:avLst>
          </a:prstGeom>
          <a:solidFill>
            <a:srgbClr val="32ADE6">
              <a:alpha val="18000"/>
            </a:srgbClr>
          </a:solidFill>
          <a:ln w="12700">
            <a:solidFill>
              <a:srgbClr val="32ADE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3383280" y="1207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2A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0" y="153619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→ OCR → Translation → Overlay chain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stability → OCR trigger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6172200" y="1207008"/>
            <a:ext cx="2377440" cy="237744"/>
          </a:xfrm>
          <a:prstGeom prst="roundRect">
            <a:avLst>
              <a:gd name="adj" fmla="val 192308"/>
            </a:avLst>
          </a:prstGeom>
          <a:solidFill>
            <a:srgbClr val="34C759">
              <a:alpha val="18000"/>
            </a:srgbClr>
          </a:solidFill>
          <a:ln w="12700">
            <a:solidFill>
              <a:srgbClr val="34C7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6172200" y="1207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72200" y="15361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workflow: launch → scan → OCR → translate → freeze-frame → save → return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889504"/>
            <a:ext cx="82296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Shape 17"/>
          <p:cNvSpPr/>
          <p:nvPr/>
        </p:nvSpPr>
        <p:spPr>
          <a:xfrm>
            <a:off x="594360" y="2944368"/>
            <a:ext cx="1417320" cy="237744"/>
          </a:xfrm>
          <a:prstGeom prst="roundRect">
            <a:avLst>
              <a:gd name="adj" fmla="val 192308"/>
            </a:avLst>
          </a:prstGeom>
          <a:solidFill>
            <a:srgbClr val="0071E3">
              <a:alpha val="18000"/>
            </a:srgbClr>
          </a:solidFill>
          <a:ln w="12700">
            <a:solidFill>
              <a:srgbClr val="0071E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594360" y="29443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Detection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48840" y="2889504"/>
            <a:ext cx="6400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TP/(TP+FP)  ·  Recall = TP/(TP+FN)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356616"/>
          </a:xfrm>
          <a:prstGeom prst="roundRect">
            <a:avLst>
              <a:gd name="adj" fmla="val 20513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Shape 21"/>
          <p:cNvSpPr/>
          <p:nvPr/>
        </p:nvSpPr>
        <p:spPr>
          <a:xfrm>
            <a:off x="594360" y="3364992"/>
            <a:ext cx="1417320" cy="237744"/>
          </a:xfrm>
          <a:prstGeom prst="roundRect">
            <a:avLst>
              <a:gd name="adj" fmla="val 192308"/>
            </a:avLst>
          </a:prstGeom>
          <a:solidFill>
            <a:srgbClr val="32ADE6">
              <a:alpha val="18000"/>
            </a:srgbClr>
          </a:solidFill>
          <a:ln w="12700">
            <a:solidFill>
              <a:srgbClr val="32ADE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594360" y="33649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2A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Recognition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48840" y="3310128"/>
            <a:ext cx="6400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= (S+D+I)/N  — character-level error rate (lower = better)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730752"/>
            <a:ext cx="82296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Shape 25"/>
          <p:cNvSpPr/>
          <p:nvPr/>
        </p:nvSpPr>
        <p:spPr>
          <a:xfrm>
            <a:off x="594360" y="3785616"/>
            <a:ext cx="1417320" cy="237744"/>
          </a:xfrm>
          <a:prstGeom prst="roundRect">
            <a:avLst>
              <a:gd name="adj" fmla="val 192308"/>
            </a:avLst>
          </a:prstGeom>
          <a:solidFill>
            <a:srgbClr val="BF5AF2">
              <a:alpha val="18000"/>
            </a:srgbClr>
          </a:solidFill>
          <a:ln w="12700">
            <a:solidFill>
              <a:srgbClr val="BF5AF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594360" y="37856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Routing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148840" y="3730752"/>
            <a:ext cx="6400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Correct classifications / Total segments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4151376"/>
            <a:ext cx="8229600" cy="356616"/>
          </a:xfrm>
          <a:prstGeom prst="roundRect">
            <a:avLst>
              <a:gd name="adj" fmla="val 20513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Shape 29"/>
          <p:cNvSpPr/>
          <p:nvPr/>
        </p:nvSpPr>
        <p:spPr>
          <a:xfrm>
            <a:off x="594360" y="4206240"/>
            <a:ext cx="1417320" cy="237744"/>
          </a:xfrm>
          <a:prstGeom prst="roundRect">
            <a:avLst>
              <a:gd name="adj" fmla="val 192308"/>
            </a:avLst>
          </a:prstGeom>
          <a:solidFill>
            <a:srgbClr val="34C759">
              <a:alpha val="18000"/>
            </a:srgbClr>
          </a:solidFill>
          <a:ln w="12700">
            <a:solidFill>
              <a:srgbClr val="34C7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30"/>
          <p:cNvSpPr/>
          <p:nvPr/>
        </p:nvSpPr>
        <p:spPr>
          <a:xfrm>
            <a:off x="594360" y="42062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Quality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48840" y="4151376"/>
            <a:ext cx="6400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1–5 scale  (5 = perfect meaning &amp; grammar)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82296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Shape 33"/>
          <p:cNvSpPr/>
          <p:nvPr/>
        </p:nvSpPr>
        <p:spPr>
          <a:xfrm>
            <a:off x="594360" y="4626864"/>
            <a:ext cx="1417320" cy="237744"/>
          </a:xfrm>
          <a:prstGeom prst="roundRect">
            <a:avLst>
              <a:gd name="adj" fmla="val 192308"/>
            </a:avLst>
          </a:prstGeom>
          <a:solidFill>
            <a:srgbClr val="FF9F0A">
              <a:alpha val="18000"/>
            </a:srgbClr>
          </a:solidFill>
          <a:ln w="12700">
            <a:solidFill>
              <a:srgbClr val="FF9F0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Text 34"/>
          <p:cNvSpPr/>
          <p:nvPr/>
        </p:nvSpPr>
        <p:spPr>
          <a:xfrm>
            <a:off x="594360" y="46268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148840" y="4572000"/>
            <a:ext cx="6400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OCR time + Translation time + Render time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OCR &amp; Language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accuracy on printed scene text under indoor conditions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457200" y="122529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Precision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078992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2651760" y="122529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2A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1719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Recall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78992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4846320" y="122529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46320" y="1719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Error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078992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7040880" y="1225296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0" y="17190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 Routing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4114800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640080" y="2359152"/>
            <a:ext cx="2011680" cy="237744"/>
          </a:xfrm>
          <a:prstGeom prst="roundRect">
            <a:avLst>
              <a:gd name="adj" fmla="val 192308"/>
            </a:avLst>
          </a:prstGeom>
          <a:solidFill>
            <a:srgbClr val="BF5AF2">
              <a:alpha val="18000"/>
            </a:srgbClr>
          </a:solidFill>
          <a:ln w="12700">
            <a:solidFill>
              <a:srgbClr val="BF5AF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640080" y="23591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ROUTING ACCURACY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1792" y="272491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Latin-based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20240" y="2798064"/>
            <a:ext cx="2286000" cy="182880"/>
          </a:xfrm>
          <a:prstGeom prst="roundRect">
            <a:avLst>
              <a:gd name="adj" fmla="val 250000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1920240" y="2798064"/>
            <a:ext cx="2194560" cy="182880"/>
          </a:xfrm>
          <a:prstGeom prst="roundRect">
            <a:avLst>
              <a:gd name="adj" fmla="val 250000"/>
            </a:avLst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3794760" y="2724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32004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20240" y="3273552"/>
            <a:ext cx="2286000" cy="182880"/>
          </a:xfrm>
          <a:prstGeom prst="roundRect">
            <a:avLst>
              <a:gd name="adj" fmla="val 250000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1920240" y="3273552"/>
            <a:ext cx="2171700" cy="182880"/>
          </a:xfrm>
          <a:prstGeom prst="roundRect">
            <a:avLst>
              <a:gd name="adj" fmla="val 250000"/>
            </a:avLst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3794760" y="3200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" y="367588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920240" y="3749040"/>
            <a:ext cx="2286000" cy="182880"/>
          </a:xfrm>
          <a:prstGeom prst="roundRect">
            <a:avLst>
              <a:gd name="adj" fmla="val 250000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Shape 28"/>
          <p:cNvSpPr/>
          <p:nvPr/>
        </p:nvSpPr>
        <p:spPr>
          <a:xfrm>
            <a:off x="1920240" y="3749040"/>
            <a:ext cx="2148840" cy="182880"/>
          </a:xfrm>
          <a:prstGeom prst="roundRect">
            <a:avLst>
              <a:gd name="adj" fmla="val 250000"/>
            </a:avLst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3794760" y="36758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" y="4151376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920240" y="4224528"/>
            <a:ext cx="2286000" cy="182880"/>
          </a:xfrm>
          <a:prstGeom prst="roundRect">
            <a:avLst>
              <a:gd name="adj" fmla="val 250000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Shape 32"/>
          <p:cNvSpPr/>
          <p:nvPr/>
        </p:nvSpPr>
        <p:spPr>
          <a:xfrm>
            <a:off x="1920240" y="4224528"/>
            <a:ext cx="2125980" cy="182880"/>
          </a:xfrm>
          <a:prstGeom prst="roundRect">
            <a:avLst>
              <a:gd name="adj" fmla="val 250000"/>
            </a:avLst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3794760" y="41513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2194560"/>
            <a:ext cx="3931920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7" name="Shape 35"/>
          <p:cNvSpPr/>
          <p:nvPr/>
        </p:nvSpPr>
        <p:spPr>
          <a:xfrm>
            <a:off x="4919472" y="2359152"/>
            <a:ext cx="1691640" cy="237744"/>
          </a:xfrm>
          <a:prstGeom prst="roundRect">
            <a:avLst>
              <a:gd name="adj" fmla="val 192308"/>
            </a:avLst>
          </a:prstGeom>
          <a:solidFill>
            <a:srgbClr val="FF375F">
              <a:alpha val="18000"/>
            </a:srgbClr>
          </a:solidFill>
          <a:ln w="12700">
            <a:solidFill>
              <a:srgbClr val="FF375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36"/>
          <p:cNvSpPr/>
          <p:nvPr/>
        </p:nvSpPr>
        <p:spPr>
          <a:xfrm>
            <a:off x="4919472" y="23591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3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ERROR CAUSES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01184" y="2724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font sizes  →  Missed detections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901184" y="3127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blur  →  Recognition errors (CER↑)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901184" y="35295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contrast  →  Both detection &amp; recognition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901184" y="3931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Mixed-language text  →  Routing errors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901184" y="43342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occlusion  →  Incomplete bounding boxes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System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quality, latency, throughput and tracking stability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D1D1D6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457200" y="1225296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4.2/5.0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Quality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078992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2834640" y="122529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820 ms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34640" y="1719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078992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5029200" y="122529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0" y="1719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Success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078992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7040880" y="1225296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fps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0" y="17190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Render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1762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Breakdown (ms)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57200" y="2468880"/>
          <a:ext cx="47548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5394960" y="2176272"/>
            <a:ext cx="3291840" cy="2688336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0" name="Shape 17"/>
          <p:cNvSpPr/>
          <p:nvPr/>
        </p:nvSpPr>
        <p:spPr>
          <a:xfrm>
            <a:off x="5577840" y="2340864"/>
            <a:ext cx="1645920" cy="237744"/>
          </a:xfrm>
          <a:prstGeom prst="roundRect">
            <a:avLst>
              <a:gd name="adj" fmla="val 192308"/>
            </a:avLst>
          </a:prstGeom>
          <a:solidFill>
            <a:srgbClr val="0071E3">
              <a:alpha val="18000"/>
            </a:srgbClr>
          </a:solidFill>
          <a:ln w="12700">
            <a:solidFill>
              <a:srgbClr val="0071E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8"/>
          <p:cNvSpPr/>
          <p:nvPr/>
        </p:nvSpPr>
        <p:spPr>
          <a:xfrm>
            <a:off x="5577840" y="23408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&amp; LATENCY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532120" y="2706624"/>
            <a:ext cx="30175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0"/>
          <p:cNvSpPr/>
          <p:nvPr/>
        </p:nvSpPr>
        <p:spPr>
          <a:xfrm>
            <a:off x="5623560" y="27066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frame rate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315200" y="270662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fps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532120" y="3081528"/>
            <a:ext cx="3017520" cy="329184"/>
          </a:xfrm>
          <a:prstGeom prst="roundRect">
            <a:avLst>
              <a:gd name="adj" fmla="val 22222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3"/>
          <p:cNvSpPr/>
          <p:nvPr/>
        </p:nvSpPr>
        <p:spPr>
          <a:xfrm>
            <a:off x="5623560" y="30815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render rate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315200" y="30815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fps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532120" y="3456432"/>
            <a:ext cx="30175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6"/>
          <p:cNvSpPr/>
          <p:nvPr/>
        </p:nvSpPr>
        <p:spPr>
          <a:xfrm>
            <a:off x="5623560" y="34564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refresh interval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315200" y="34564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532120" y="3831336"/>
            <a:ext cx="3017520" cy="329184"/>
          </a:xfrm>
          <a:prstGeom prst="roundRect">
            <a:avLst>
              <a:gd name="adj" fmla="val 22222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29"/>
          <p:cNvSpPr/>
          <p:nvPr/>
        </p:nvSpPr>
        <p:spPr>
          <a:xfrm>
            <a:off x="5623560" y="38313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avg. duration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315200" y="383133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532120" y="4206240"/>
            <a:ext cx="30175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2"/>
          <p:cNvSpPr/>
          <p:nvPr/>
        </p:nvSpPr>
        <p:spPr>
          <a:xfrm>
            <a:off x="5623560" y="42062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— small scene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315200" y="42062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~873 ms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532120" y="4581144"/>
            <a:ext cx="3017520" cy="329184"/>
          </a:xfrm>
          <a:prstGeom prst="roundRect">
            <a:avLst>
              <a:gd name="adj" fmla="val 22222"/>
            </a:avLst>
          </a:prstGeom>
          <a:solidFill>
            <a:srgbClr val="F5F5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35"/>
          <p:cNvSpPr/>
          <p:nvPr/>
        </p:nvSpPr>
        <p:spPr>
          <a:xfrm>
            <a:off x="5623560" y="45811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— dense scene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315200" y="458114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~5,958 ms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TextLens demonstrates — and where it can go next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29768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noFill/>
            <a:prstDash val="solid"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621792" y="1298448"/>
            <a:ext cx="1554480" cy="237744"/>
          </a:xfrm>
          <a:prstGeom prst="roundRect">
            <a:avLst>
              <a:gd name="adj" fmla="val 192308"/>
            </a:avLst>
          </a:prstGeom>
          <a:solidFill>
            <a:srgbClr val="0071E3">
              <a:alpha val="18000"/>
            </a:srgbClr>
          </a:solidFill>
          <a:ln w="12700">
            <a:solidFill>
              <a:srgbClr val="0071E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621792" y="12984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Proven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04288" y="1078992"/>
            <a:ext cx="2340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on-device scene text translation on Android — no cloud needed.</a:t>
            </a:r>
            <a:endParaRPr lang="en-US" sz="11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429768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noFill/>
            <a:prstDash val="solid"/>
          </a:ln>
          <a:effectLst>
            <a:outerShdw blurRad="63500" algn="ctr" rotWithShape="0">
              <a:prstClr val="black">
                <a:alpha val="7000"/>
              </a:prst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621792" y="2121408"/>
            <a:ext cx="1554480" cy="237744"/>
          </a:xfrm>
          <a:prstGeom prst="roundRect">
            <a:avLst>
              <a:gd name="adj" fmla="val 192308"/>
            </a:avLst>
          </a:prstGeom>
          <a:solidFill>
            <a:srgbClr val="34C759">
              <a:alpha val="18000"/>
            </a:srgbClr>
          </a:solidFill>
          <a:ln w="12700">
            <a:solidFill>
              <a:srgbClr val="34C7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621792" y="21214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Performance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04288" y="1901952"/>
            <a:ext cx="2340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92.1% precision · 5.9% CER · 4.2/5 translation score · 820 ms end-to-end.</a:t>
            </a:r>
            <a:endParaRPr lang="en-US" sz="11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429768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noFill/>
            <a:prstDash val="solid"/>
          </a:ln>
          <a:effectLst>
            <a:outerShdw blurRad="63500" algn="ctr" rotWithShape="0">
              <a:prstClr val="black">
                <a:alpha val="7000"/>
              </a:prst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Shape 12"/>
          <p:cNvSpPr/>
          <p:nvPr/>
        </p:nvSpPr>
        <p:spPr>
          <a:xfrm>
            <a:off x="621792" y="2944368"/>
            <a:ext cx="1554480" cy="237744"/>
          </a:xfrm>
          <a:prstGeom prst="roundRect">
            <a:avLst>
              <a:gd name="adj" fmla="val 192308"/>
            </a:avLst>
          </a:prstGeom>
          <a:solidFill>
            <a:srgbClr val="32ADE6">
              <a:alpha val="18000"/>
            </a:srgbClr>
          </a:solidFill>
          <a:ln w="12700">
            <a:solidFill>
              <a:srgbClr val="32ADE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621792" y="29443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2A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Pipeline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04288" y="2724912"/>
            <a:ext cx="2340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Motion-gated OCR + affine tracking + inpainting + NMT in a single mobile app.</a:t>
            </a:r>
            <a:endParaRPr lang="en-US" sz="11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547872"/>
            <a:ext cx="429768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noFill/>
            <a:prstDash val="solid"/>
          </a:ln>
          <a:effectLst>
            <a:outerShdw blurRad="63500" algn="ctr" rotWithShape="0">
              <a:prstClr val="black">
                <a:alpha val="7000"/>
              </a:prst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621792" y="3767328"/>
            <a:ext cx="1554480" cy="237744"/>
          </a:xfrm>
          <a:prstGeom prst="roundRect">
            <a:avLst>
              <a:gd name="adj" fmla="val 192308"/>
            </a:avLst>
          </a:prstGeom>
          <a:solidFill>
            <a:srgbClr val="FF9F0A">
              <a:alpha val="18000"/>
            </a:srgbClr>
          </a:solidFill>
          <a:ln w="12700">
            <a:solidFill>
              <a:srgbClr val="FF9F0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621792" y="37673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Usability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04288" y="3547872"/>
            <a:ext cx="2340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fps overlay, 91% tracking success, fully offline after one-time model download.</a:t>
            </a:r>
            <a:endParaRPr lang="en-US" sz="11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7492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74920" y="1444752"/>
            <a:ext cx="3611880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9525">
            <a:noFill/>
            <a:prstDash val="solid"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3" name="Shape 21"/>
          <p:cNvSpPr/>
          <p:nvPr/>
        </p:nvSpPr>
        <p:spPr>
          <a:xfrm>
            <a:off x="5230368" y="1554480"/>
            <a:ext cx="329184" cy="329184"/>
          </a:xfrm>
          <a:prstGeom prst="ellipse">
            <a:avLst/>
          </a:prstGeom>
          <a:solidFill>
            <a:srgbClr val="32ADE6">
              <a:alpha val="30000"/>
            </a:srgbClr>
          </a:solidFill>
          <a:ln w="12700">
            <a:solidFill>
              <a:srgbClr val="32ADE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5669280" y="144475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/ batch translation to cut dense-scene latency</a:t>
            </a:r>
            <a:endParaRPr lang="en-US" sz="11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74920" y="2103120"/>
            <a:ext cx="3611880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9525">
            <a:noFill/>
            <a:prstDash val="solid"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5230368" y="2212848"/>
            <a:ext cx="329184" cy="329184"/>
          </a:xfrm>
          <a:prstGeom prst="ellipse">
            <a:avLst/>
          </a:prstGeom>
          <a:solidFill>
            <a:srgbClr val="93C5FD">
              <a:alpha val="30000"/>
            </a:srgbClr>
          </a:solidFill>
          <a:ln w="12700">
            <a:solidFill>
              <a:srgbClr val="93C5F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5669280" y="2103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OCR for low-light, curved and stylised text</a:t>
            </a:r>
            <a:endParaRPr lang="en-US" sz="11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74920" y="2761488"/>
            <a:ext cx="3611880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9525">
            <a:noFill/>
            <a:prstDash val="solid"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9" name="Shape 27"/>
          <p:cNvSpPr/>
          <p:nvPr/>
        </p:nvSpPr>
        <p:spPr>
          <a:xfrm>
            <a:off x="5230368" y="2871216"/>
            <a:ext cx="329184" cy="329184"/>
          </a:xfrm>
          <a:prstGeom prst="ellipse">
            <a:avLst/>
          </a:prstGeom>
          <a:solidFill>
            <a:srgbClr val="34C759">
              <a:alpha val="30000"/>
            </a:srgbClr>
          </a:solidFill>
          <a:ln w="12700">
            <a:solidFill>
              <a:srgbClr val="34C75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5669280" y="27614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AR-quality text replacement via surface geometry estimation</a:t>
            </a:r>
            <a:endParaRPr lang="en-US" sz="11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074920" y="3419856"/>
            <a:ext cx="3611880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9525">
            <a:noFill/>
            <a:prstDash val="solid"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2" name="Shape 30"/>
          <p:cNvSpPr/>
          <p:nvPr/>
        </p:nvSpPr>
        <p:spPr>
          <a:xfrm>
            <a:off x="5230368" y="3529584"/>
            <a:ext cx="329184" cy="329184"/>
          </a:xfrm>
          <a:prstGeom prst="ellipse">
            <a:avLst/>
          </a:prstGeom>
          <a:solidFill>
            <a:srgbClr val="FF9F0A">
              <a:alpha val="30000"/>
            </a:srgbClr>
          </a:solidFill>
          <a:ln w="12700">
            <a:solidFill>
              <a:srgbClr val="FF9F0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/>
          <p:nvPr/>
        </p:nvSpPr>
        <p:spPr>
          <a:xfrm>
            <a:off x="5669280" y="34198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tracking with homography or learning-based methods</a:t>
            </a:r>
            <a:endParaRPr lang="en-US" sz="11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74920" y="4078224"/>
            <a:ext cx="3611880" cy="54864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9525">
            <a:noFill/>
            <a:prstDash val="solid"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5" name="Shape 33"/>
          <p:cNvSpPr/>
          <p:nvPr/>
        </p:nvSpPr>
        <p:spPr>
          <a:xfrm>
            <a:off x="5230368" y="4187952"/>
            <a:ext cx="329184" cy="329184"/>
          </a:xfrm>
          <a:prstGeom prst="ellipse">
            <a:avLst/>
          </a:prstGeom>
          <a:solidFill>
            <a:srgbClr val="BF5AF2">
              <a:alpha val="30000"/>
            </a:srgbClr>
          </a:solidFill>
          <a:ln w="12700">
            <a:solidFill>
              <a:srgbClr val="BF5AF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Text 34"/>
          <p:cNvSpPr/>
          <p:nvPr/>
        </p:nvSpPr>
        <p:spPr>
          <a:xfrm>
            <a:off x="5669280" y="40782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diffusion models to improve scene replacement</a:t>
            </a:r>
            <a:endParaRPr lang="en-US" sz="11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3657600" y="1901952"/>
            <a:ext cx="1828800" cy="36576"/>
          </a:xfrm>
          <a:prstGeom prst="roundRect">
            <a:avLst>
              <a:gd name="adj" fmla="val 1250000"/>
            </a:avLst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9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2633472"/>
            <a:ext cx="16459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noFill/>
            <a:prstDash val="solid"/>
          </a:ln>
          <a:effectLst>
            <a:outerShdw blurRad="50800" dist="50800" dir="5400000" algn="ctr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08152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Precision</a:t>
            </a:r>
            <a:endParaRPr lang="en-US" sz="11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34640" y="2633472"/>
            <a:ext cx="16459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noFill/>
            <a:prstDash val="solid"/>
          </a:ln>
          <a:effectLst>
            <a:outerShdw blurRad="50800" dist="50800" dir="5400000" algn="ctr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2834640" y="2697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34640" y="308152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Error Rate</a:t>
            </a:r>
            <a:endParaRPr lang="en-US" sz="11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0" y="2633472"/>
            <a:ext cx="16459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noFill/>
            <a:prstDash val="solid"/>
          </a:ln>
          <a:effectLst>
            <a:outerShdw blurRad="50800" dist="50800" dir="5400000" algn="ctr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4754880" y="2697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4.2/5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308152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Score</a:t>
            </a:r>
            <a:endParaRPr lang="en-US" sz="11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675120" y="2633472"/>
            <a:ext cx="164592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noFill/>
            <a:prstDash val="solid"/>
          </a:ln>
          <a:effectLst>
            <a:outerShdw blurRad="50800" dist="50800" dir="5400000" algn="ctr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6675120" y="2697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820ms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308152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Latency</a:t>
            </a:r>
            <a:endParaRPr lang="en-US" sz="11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89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 Yew Kiang  ·  CCDS25-0235  ·  Nanyang Technological University  · 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256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github.com/yewkiang123/TranslatorApp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2905</TotalTime>
  <Words>1145</Words>
  <Application>Microsoft Office PowerPoint</Application>
  <PresentationFormat>On-screen Show (16:9)</PresentationFormat>
  <Paragraphs>289</Paragraphs>
  <Slides>15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TextLens – FYP Presentation</dc:title>
  <dc:subject>PptxGenJS Presentation</dc:subject>
  <dc:creator>Goh Yew Kiang</dc:creator>
  <cp:lastModifiedBy>Goh, Yew Kiang</cp:lastModifiedBy>
  <cp:revision>6</cp:revision>
  <dcterms:created xsi:type="dcterms:W3CDTF">2026-05-06T10:25:11Z</dcterms:created>
  <dcterms:modified xsi:type="dcterms:W3CDTF">2026-05-10T09:22:01Z</dcterms:modified>
</cp:coreProperties>
</file>